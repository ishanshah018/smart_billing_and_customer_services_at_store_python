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1"/>
  </p:notesMasterIdLst>
  <p:sldIdLst>
    <p:sldId id="257" r:id="rId2"/>
    <p:sldId id="266" r:id="rId3"/>
    <p:sldId id="258" r:id="rId4"/>
    <p:sldId id="265" r:id="rId5"/>
    <p:sldId id="259" r:id="rId6"/>
    <p:sldId id="260" r:id="rId7"/>
    <p:sldId id="261" r:id="rId8"/>
    <p:sldId id="262" r:id="rId9"/>
    <p:sldId id="263" r:id="rId10"/>
  </p:sldIdLst>
  <p:sldSz cx="18288000" cy="10287000"/>
  <p:notesSz cx="6858000" cy="9144000"/>
  <p:embeddedFontLst>
    <p:embeddedFont>
      <p:font typeface="Fraunces" panose="020F0502020204030204" pitchFamily="34" charset="0"/>
      <p:regular r:id="rId12"/>
      <p:bold r:id="rId13"/>
      <p:italic r:id="rId14"/>
      <p:boldItalic r:id="rId15"/>
    </p:embeddedFont>
    <p:embeddedFont>
      <p:font typeface="Unna" panose="02040503070705020203" pitchFamily="18" charset="77"/>
      <p:regular r:id="rId16"/>
    </p:embeddedFont>
    <p:embeddedFont>
      <p:font typeface="Unna Bold" panose="02040703070705020203" pitchFamily="18" charset="77"/>
      <p:regular r:id="rId17"/>
      <p:bold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965" autoAdjust="0"/>
    <p:restoredTop sz="96976" autoAdjust="0"/>
  </p:normalViewPr>
  <p:slideViewPr>
    <p:cSldViewPr>
      <p:cViewPr varScale="1">
        <p:scale>
          <a:sx n="96" d="100"/>
          <a:sy n="96" d="100"/>
        </p:scale>
        <p:origin x="480" y="46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23.02.2025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dirty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dirty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81DDF-E347-D92A-0842-E80DF3931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A0EA9E6-3DE1-3D36-85FD-C0AC612356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CB04F6-3598-F501-DEA1-B56DBE197B7B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dirty="0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5C00C686-E125-8BA0-F0D1-8B0973B005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dirty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888D7ACE-559C-0C63-312B-D88AF136B5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/>
              <a:t>2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53F303-7708-9B74-208F-FAC91AE6D47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92F1A5-5BD2-A814-F93B-3E1FDF0E4D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dirty="0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083369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dirty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dirty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2A22F-8431-1EE6-7B8E-6F18A667D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F21E353-5683-09D4-54D1-32A93FCF746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7B3F78-EA54-0150-B4B4-B6788B51673D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dirty="0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CF1715B2-0D1E-0C25-5CD7-552062E477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dirty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554B664A-0665-A9DE-C7F0-83AB35D7C5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CCA372-D295-93B9-C404-BFE612D55CC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A8F702-CDC8-4C70-40B6-7B7E02AF85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dirty="0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4089569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dirty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dirty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dirty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dirty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himsical.com/smart-billing-and-customer-services-GuFWmM5skyAapzvNQc8vMH" TargetMode="Externa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2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11" Type="http://schemas.openxmlformats.org/officeDocument/2006/relationships/image" Target="../media/image2.png"/><Relationship Id="rId5" Type="http://schemas.openxmlformats.org/officeDocument/2006/relationships/image" Target="../media/image14.png"/><Relationship Id="rId10" Type="http://schemas.openxmlformats.org/officeDocument/2006/relationships/image" Target="../media/image1.png"/><Relationship Id="rId4" Type="http://schemas.microsoft.com/office/2007/relationships/hdphoto" Target="../media/hdphoto1.wdp"/><Relationship Id="rId9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Picture 49">
            <a:extLst>
              <a:ext uri="{FF2B5EF4-FFF2-40B4-BE49-F238E27FC236}">
                <a16:creationId xmlns:a16="http://schemas.microsoft.com/office/drawing/2014/main" id="{54AFA565-A6FD-FC34-376A-3C86C609942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37" y="103519"/>
            <a:ext cx="1112268" cy="1164566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7B9042E4-C7F3-214D-F060-ABA52A0AA6F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91" t="16832" b="13861"/>
          <a:stretch/>
        </p:blipFill>
        <p:spPr>
          <a:xfrm>
            <a:off x="13427247" y="1"/>
            <a:ext cx="4728777" cy="905774"/>
          </a:xfrm>
          <a:prstGeom prst="rect">
            <a:avLst/>
          </a:prstGeom>
        </p:spPr>
      </p:pic>
      <p:sp>
        <p:nvSpPr>
          <p:cNvPr id="49" name="Title 1">
            <a:extLst>
              <a:ext uri="{FF2B5EF4-FFF2-40B4-BE49-F238E27FC236}">
                <a16:creationId xmlns:a16="http://schemas.microsoft.com/office/drawing/2014/main" id="{52277F54-9A7C-E925-B985-1B18AEDF6B3A}"/>
              </a:ext>
            </a:extLst>
          </p:cNvPr>
          <p:cNvSpPr txBox="1">
            <a:spLocks/>
          </p:cNvSpPr>
          <p:nvPr/>
        </p:nvSpPr>
        <p:spPr>
          <a:xfrm>
            <a:off x="1447800" y="1166594"/>
            <a:ext cx="14935200" cy="104985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1"/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65100" prst="coolSlant"/>
          </a:sp3d>
        </p:spPr>
        <p:txBody>
          <a:bodyPr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ts val="7312"/>
              </a:lnSpc>
            </a:pPr>
            <a:r>
              <a:rPr lang="en-US" sz="5400">
                <a:latin typeface="Unna"/>
                <a:ea typeface="Unna"/>
                <a:cs typeface="Unna"/>
                <a:sym typeface="Unna"/>
              </a:rPr>
              <a:t>       Smart Billing and Customer Services At Store</a:t>
            </a:r>
            <a:endParaRPr lang="en-US" sz="5400" dirty="0">
              <a:latin typeface="Unna"/>
              <a:ea typeface="Unna"/>
              <a:cs typeface="Unna"/>
              <a:sym typeface="Unna"/>
            </a:endParaRPr>
          </a:p>
        </p:txBody>
      </p:sp>
      <p:sp>
        <p:nvSpPr>
          <p:cNvPr id="52" name="Subtitle 7">
            <a:extLst>
              <a:ext uri="{FF2B5EF4-FFF2-40B4-BE49-F238E27FC236}">
                <a16:creationId xmlns:a16="http://schemas.microsoft.com/office/drawing/2014/main" id="{3D6694BE-6EF3-658D-C624-95E219C09503}"/>
              </a:ext>
            </a:extLst>
          </p:cNvPr>
          <p:cNvSpPr txBox="1">
            <a:spLocks/>
          </p:cNvSpPr>
          <p:nvPr/>
        </p:nvSpPr>
        <p:spPr>
          <a:xfrm>
            <a:off x="1443037" y="3009900"/>
            <a:ext cx="2366963" cy="60092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lumMod val="75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>
            <a:normAutofit fontScale="925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latin typeface="Unna"/>
                <a:sym typeface="Unna"/>
              </a:rPr>
              <a:t>Prepared</a:t>
            </a:r>
            <a:r>
              <a:rPr lang="en-US" dirty="0"/>
              <a:t> </a:t>
            </a:r>
            <a:r>
              <a:rPr lang="en-US" dirty="0">
                <a:latin typeface="Unna"/>
                <a:ea typeface="Unna"/>
                <a:cs typeface="Unna"/>
                <a:sym typeface="Unna"/>
              </a:rPr>
              <a:t>By :</a:t>
            </a:r>
            <a:endParaRPr lang="en-US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4DD57C6-75CA-1AB9-7249-32EA7DB692B7}"/>
              </a:ext>
            </a:extLst>
          </p:cNvPr>
          <p:cNvSpPr/>
          <p:nvPr/>
        </p:nvSpPr>
        <p:spPr>
          <a:xfrm>
            <a:off x="5469147" y="4533900"/>
            <a:ext cx="7958100" cy="25146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en-US" sz="4000" dirty="0">
                <a:solidFill>
                  <a:schemeClr val="tx1"/>
                </a:solidFill>
                <a:latin typeface="Unna"/>
                <a:ea typeface="Unna"/>
                <a:cs typeface="Unna"/>
                <a:sym typeface="Unna"/>
              </a:rPr>
              <a:t>Name:     SHAH ISHAN RAJUBHAI</a:t>
            </a:r>
          </a:p>
          <a:p>
            <a:pPr lvl="1"/>
            <a:r>
              <a:rPr lang="en-US" sz="4000" spc="-43" dirty="0">
                <a:solidFill>
                  <a:schemeClr val="tx1"/>
                </a:solidFill>
                <a:latin typeface="Unna"/>
                <a:ea typeface="Fraunces"/>
                <a:cs typeface="Fraunces"/>
                <a:sym typeface="Unna"/>
              </a:rPr>
              <a:t>Enr No:    23002171310152</a:t>
            </a:r>
          </a:p>
          <a:p>
            <a:pPr lvl="1"/>
            <a:r>
              <a:rPr lang="en-US" sz="4000" spc="-43" dirty="0">
                <a:solidFill>
                  <a:schemeClr val="tx1"/>
                </a:solidFill>
                <a:latin typeface="Unna"/>
                <a:ea typeface="Fraunces"/>
                <a:cs typeface="Fraunces"/>
                <a:sym typeface="Unna"/>
              </a:rPr>
              <a:t>Batch:      D2</a:t>
            </a:r>
          </a:p>
          <a:p>
            <a:pPr lvl="1"/>
            <a:r>
              <a:rPr lang="en-US" sz="4000" spc="-43" dirty="0">
                <a:solidFill>
                  <a:schemeClr val="tx1"/>
                </a:solidFill>
                <a:latin typeface="Unna"/>
                <a:ea typeface="Fraunces"/>
                <a:cs typeface="Fraunces"/>
                <a:sym typeface="Unna"/>
              </a:rPr>
              <a:t>Roll No:   67</a:t>
            </a:r>
            <a:endParaRPr lang="en-US" sz="3900" spc="-43" dirty="0">
              <a:solidFill>
                <a:schemeClr val="tx1"/>
              </a:solidFill>
              <a:latin typeface="Fraunces"/>
              <a:ea typeface="Fraunces"/>
              <a:cs typeface="Fraunces"/>
              <a:sym typeface="Fraunce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2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B9D916-5457-1867-D246-ED822192B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92E32454-B1A5-18B8-861A-E9B657A38EE9}"/>
              </a:ext>
            </a:extLst>
          </p:cNvPr>
          <p:cNvGrpSpPr/>
          <p:nvPr/>
        </p:nvGrpSpPr>
        <p:grpSpPr>
          <a:xfrm>
            <a:off x="927497" y="987931"/>
            <a:ext cx="10390872" cy="1036926"/>
            <a:chOff x="0" y="-151116"/>
            <a:chExt cx="13854495" cy="1382568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8CE3CF9C-83F3-5B90-D418-14E6DDAE4FA4}"/>
                </a:ext>
              </a:extLst>
            </p:cNvPr>
            <p:cNvSpPr/>
            <p:nvPr/>
          </p:nvSpPr>
          <p:spPr>
            <a:xfrm>
              <a:off x="0" y="0"/>
              <a:ext cx="13822745" cy="1231452"/>
            </a:xfrm>
            <a:custGeom>
              <a:avLst/>
              <a:gdLst/>
              <a:ahLst/>
              <a:cxnLst/>
              <a:rect l="l" t="t" r="r" b="b"/>
              <a:pathLst>
                <a:path w="13822745" h="1231452">
                  <a:moveTo>
                    <a:pt x="0" y="0"/>
                  </a:moveTo>
                  <a:lnTo>
                    <a:pt x="13822745" y="0"/>
                  </a:lnTo>
                  <a:lnTo>
                    <a:pt x="13822745" y="1231452"/>
                  </a:lnTo>
                  <a:lnTo>
                    <a:pt x="0" y="123145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E0B6B94D-0DFD-4317-31BF-1B0774330038}"/>
                </a:ext>
              </a:extLst>
            </p:cNvPr>
            <p:cNvSpPr txBox="1"/>
            <p:nvPr/>
          </p:nvSpPr>
          <p:spPr>
            <a:xfrm>
              <a:off x="31749" y="-151116"/>
              <a:ext cx="13822746" cy="1269552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6703"/>
                </a:lnSpc>
              </a:pPr>
              <a:r>
                <a:rPr lang="en-US" sz="5400" b="1" dirty="0">
                  <a:latin typeface="Unna Bold"/>
                  <a:ea typeface="Unna Bold"/>
                  <a:cs typeface="Unna Bold"/>
                  <a:sym typeface="Unna Bold"/>
                </a:rPr>
                <a:t>INTRODUCTION TO THE PROJECT</a:t>
              </a:r>
            </a:p>
          </p:txBody>
        </p:sp>
      </p:grpSp>
      <p:grpSp>
        <p:nvGrpSpPr>
          <p:cNvPr id="7" name="Group 7">
            <a:extLst>
              <a:ext uri="{FF2B5EF4-FFF2-40B4-BE49-F238E27FC236}">
                <a16:creationId xmlns:a16="http://schemas.microsoft.com/office/drawing/2014/main" id="{AE67873D-9E40-72D9-BDAA-712BBFBB546F}"/>
              </a:ext>
            </a:extLst>
          </p:cNvPr>
          <p:cNvGrpSpPr/>
          <p:nvPr/>
        </p:nvGrpSpPr>
        <p:grpSpPr>
          <a:xfrm>
            <a:off x="922734" y="2123104"/>
            <a:ext cx="16442531" cy="871168"/>
            <a:chOff x="0" y="0"/>
            <a:chExt cx="21923375" cy="1161558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CF0A0578-EA19-94BB-2A2D-86A79D96FA0A}"/>
                </a:ext>
              </a:extLst>
            </p:cNvPr>
            <p:cNvSpPr/>
            <p:nvPr/>
          </p:nvSpPr>
          <p:spPr>
            <a:xfrm>
              <a:off x="0" y="0"/>
              <a:ext cx="21923375" cy="1161558"/>
            </a:xfrm>
            <a:custGeom>
              <a:avLst/>
              <a:gdLst/>
              <a:ahLst/>
              <a:cxnLst/>
              <a:rect l="l" t="t" r="r" b="b"/>
              <a:pathLst>
                <a:path w="21923375" h="1161558">
                  <a:moveTo>
                    <a:pt x="0" y="0"/>
                  </a:moveTo>
                  <a:lnTo>
                    <a:pt x="21923375" y="0"/>
                  </a:lnTo>
                  <a:lnTo>
                    <a:pt x="21923375" y="1161558"/>
                  </a:lnTo>
                  <a:lnTo>
                    <a:pt x="0" y="116155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r>
                <a:rPr lang="en-US" dirty="0"/>
                <a:t>  </a:t>
              </a:r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9FACC8EA-957F-D0BD-CA8B-930132136E35}"/>
                </a:ext>
              </a:extLst>
            </p:cNvPr>
            <p:cNvSpPr txBox="1"/>
            <p:nvPr/>
          </p:nvSpPr>
          <p:spPr>
            <a:xfrm>
              <a:off x="0" y="-19050"/>
              <a:ext cx="21923375" cy="1180608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372"/>
                </a:lnSpc>
              </a:pPr>
              <a:r>
                <a:rPr lang="en-US" sz="2687" dirty="0">
                  <a:latin typeface="Unna"/>
                  <a:ea typeface="Unna"/>
                  <a:cs typeface="Unna"/>
                  <a:sym typeface="Unna"/>
                </a:rPr>
                <a:t>The primary focus of this project is on </a:t>
              </a:r>
              <a:r>
                <a:rPr lang="en-US" sz="2687" b="1" dirty="0">
                  <a:latin typeface="Unna"/>
                  <a:ea typeface="Unna"/>
                  <a:cs typeface="Unna"/>
                  <a:sym typeface="Unna"/>
                </a:rPr>
                <a:t>customer-centric features</a:t>
              </a:r>
              <a:r>
                <a:rPr lang="en-US" sz="2687" dirty="0">
                  <a:latin typeface="Unna"/>
                  <a:ea typeface="Unna"/>
                  <a:cs typeface="Unna"/>
                  <a:sym typeface="Unna"/>
                </a:rPr>
                <a:t>, ensuring a seamless, efficient, and a </a:t>
              </a:r>
            </a:p>
            <a:p>
              <a:pPr algn="l">
                <a:lnSpc>
                  <a:spcPts val="3374"/>
                </a:lnSpc>
              </a:pPr>
              <a:r>
                <a:rPr lang="en-US" sz="2687" dirty="0">
                  <a:latin typeface="Unna"/>
                  <a:ea typeface="Unna"/>
                  <a:cs typeface="Unna"/>
                  <a:sym typeface="Unna"/>
                </a:rPr>
                <a:t>smart shopping  experience at Store.</a:t>
              </a:r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3D3DB9E8-3BEB-CB08-F615-25D0E3978817}"/>
              </a:ext>
            </a:extLst>
          </p:cNvPr>
          <p:cNvGrpSpPr/>
          <p:nvPr/>
        </p:nvGrpSpPr>
        <p:grpSpPr>
          <a:xfrm>
            <a:off x="917972" y="3546722"/>
            <a:ext cx="602605" cy="602605"/>
            <a:chOff x="0" y="0"/>
            <a:chExt cx="803473" cy="803473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7981E62D-12E7-A691-7A53-6F61C8CA78E0}"/>
                </a:ext>
              </a:extLst>
            </p:cNvPr>
            <p:cNvSpPr/>
            <p:nvPr/>
          </p:nvSpPr>
          <p:spPr>
            <a:xfrm>
              <a:off x="6350" y="6350"/>
              <a:ext cx="790829" cy="790829"/>
            </a:xfrm>
            <a:custGeom>
              <a:avLst/>
              <a:gdLst/>
              <a:ahLst/>
              <a:cxnLst/>
              <a:rect l="l" t="t" r="r" b="b"/>
              <a:pathLst>
                <a:path w="790829" h="790829">
                  <a:moveTo>
                    <a:pt x="0" y="147701"/>
                  </a:moveTo>
                  <a:cubicBezTo>
                    <a:pt x="0" y="66040"/>
                    <a:pt x="66040" y="0"/>
                    <a:pt x="147701" y="0"/>
                  </a:cubicBezTo>
                  <a:lnTo>
                    <a:pt x="643128" y="0"/>
                  </a:lnTo>
                  <a:cubicBezTo>
                    <a:pt x="724662" y="0"/>
                    <a:pt x="790829" y="66040"/>
                    <a:pt x="790829" y="147701"/>
                  </a:cubicBezTo>
                  <a:lnTo>
                    <a:pt x="790829" y="643128"/>
                  </a:lnTo>
                  <a:cubicBezTo>
                    <a:pt x="790829" y="724662"/>
                    <a:pt x="724789" y="790829"/>
                    <a:pt x="643128" y="790829"/>
                  </a:cubicBezTo>
                  <a:lnTo>
                    <a:pt x="147701" y="790829"/>
                  </a:lnTo>
                  <a:cubicBezTo>
                    <a:pt x="66040" y="790829"/>
                    <a:pt x="0" y="724662"/>
                    <a:pt x="0" y="643128"/>
                  </a:cubicBezTo>
                  <a:close/>
                </a:path>
              </a:pathLst>
            </a:custGeom>
            <a:solidFill>
              <a:srgbClr val="B48F6A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E37DF075-048B-BC6D-5DE0-0A152EB26DF9}"/>
                </a:ext>
              </a:extLst>
            </p:cNvPr>
            <p:cNvSpPr/>
            <p:nvPr/>
          </p:nvSpPr>
          <p:spPr>
            <a:xfrm>
              <a:off x="0" y="0"/>
              <a:ext cx="803529" cy="803529"/>
            </a:xfrm>
            <a:custGeom>
              <a:avLst/>
              <a:gdLst/>
              <a:ahLst/>
              <a:cxnLst/>
              <a:rect l="l" t="t" r="r" b="b"/>
              <a:pathLst>
                <a:path w="803529" h="803529">
                  <a:moveTo>
                    <a:pt x="0" y="154051"/>
                  </a:moveTo>
                  <a:cubicBezTo>
                    <a:pt x="0" y="68961"/>
                    <a:pt x="68961" y="0"/>
                    <a:pt x="154051" y="0"/>
                  </a:cubicBezTo>
                  <a:lnTo>
                    <a:pt x="649478" y="0"/>
                  </a:lnTo>
                  <a:lnTo>
                    <a:pt x="649478" y="6350"/>
                  </a:lnTo>
                  <a:lnTo>
                    <a:pt x="649478" y="0"/>
                  </a:lnTo>
                  <a:cubicBezTo>
                    <a:pt x="734568" y="0"/>
                    <a:pt x="803529" y="68961"/>
                    <a:pt x="803529" y="154051"/>
                  </a:cubicBezTo>
                  <a:lnTo>
                    <a:pt x="797179" y="154051"/>
                  </a:lnTo>
                  <a:lnTo>
                    <a:pt x="803529" y="154051"/>
                  </a:lnTo>
                  <a:lnTo>
                    <a:pt x="803529" y="649478"/>
                  </a:lnTo>
                  <a:lnTo>
                    <a:pt x="797179" y="649478"/>
                  </a:lnTo>
                  <a:lnTo>
                    <a:pt x="803529" y="649478"/>
                  </a:lnTo>
                  <a:cubicBezTo>
                    <a:pt x="803529" y="734568"/>
                    <a:pt x="734568" y="803529"/>
                    <a:pt x="649478" y="803529"/>
                  </a:cubicBezTo>
                  <a:lnTo>
                    <a:pt x="649478" y="797179"/>
                  </a:lnTo>
                  <a:lnTo>
                    <a:pt x="649478" y="803529"/>
                  </a:lnTo>
                  <a:lnTo>
                    <a:pt x="154051" y="803529"/>
                  </a:lnTo>
                  <a:lnTo>
                    <a:pt x="154051" y="797179"/>
                  </a:lnTo>
                  <a:lnTo>
                    <a:pt x="154051" y="803529"/>
                  </a:lnTo>
                  <a:cubicBezTo>
                    <a:pt x="68961" y="803529"/>
                    <a:pt x="0" y="734568"/>
                    <a:pt x="0" y="649478"/>
                  </a:cubicBezTo>
                  <a:lnTo>
                    <a:pt x="0" y="154051"/>
                  </a:lnTo>
                  <a:lnTo>
                    <a:pt x="6350" y="154051"/>
                  </a:lnTo>
                  <a:lnTo>
                    <a:pt x="0" y="154051"/>
                  </a:lnTo>
                  <a:moveTo>
                    <a:pt x="12700" y="154051"/>
                  </a:moveTo>
                  <a:lnTo>
                    <a:pt x="12700" y="649478"/>
                  </a:lnTo>
                  <a:lnTo>
                    <a:pt x="6350" y="649478"/>
                  </a:lnTo>
                  <a:lnTo>
                    <a:pt x="12700" y="649478"/>
                  </a:lnTo>
                  <a:cubicBezTo>
                    <a:pt x="12700" y="727456"/>
                    <a:pt x="75946" y="790829"/>
                    <a:pt x="154051" y="790829"/>
                  </a:cubicBezTo>
                  <a:lnTo>
                    <a:pt x="649478" y="790829"/>
                  </a:lnTo>
                  <a:cubicBezTo>
                    <a:pt x="727456" y="790829"/>
                    <a:pt x="790829" y="727583"/>
                    <a:pt x="790829" y="649478"/>
                  </a:cubicBezTo>
                  <a:lnTo>
                    <a:pt x="790829" y="154051"/>
                  </a:lnTo>
                  <a:cubicBezTo>
                    <a:pt x="790829" y="75946"/>
                    <a:pt x="727456" y="12700"/>
                    <a:pt x="649478" y="12700"/>
                  </a:cubicBezTo>
                  <a:lnTo>
                    <a:pt x="154051" y="12700"/>
                  </a:lnTo>
                  <a:lnTo>
                    <a:pt x="154051" y="6350"/>
                  </a:lnTo>
                  <a:lnTo>
                    <a:pt x="154051" y="12700"/>
                  </a:lnTo>
                  <a:cubicBezTo>
                    <a:pt x="75946" y="12700"/>
                    <a:pt x="12700" y="75946"/>
                    <a:pt x="12700" y="154051"/>
                  </a:cubicBezTo>
                  <a:close/>
                </a:path>
              </a:pathLst>
            </a:custGeom>
            <a:solidFill>
              <a:srgbClr val="F7F2ED"/>
            </a:solidFill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id="{CA6552EF-B7F4-703D-BE1F-972FF265948E}"/>
              </a:ext>
            </a:extLst>
          </p:cNvPr>
          <p:cNvGrpSpPr/>
          <p:nvPr/>
        </p:nvGrpSpPr>
        <p:grpSpPr>
          <a:xfrm>
            <a:off x="1130350" y="3640336"/>
            <a:ext cx="177701" cy="554863"/>
            <a:chOff x="0" y="0"/>
            <a:chExt cx="236935" cy="739817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DE41944B-CD04-3145-1257-78F8ED6B5E52}"/>
                </a:ext>
              </a:extLst>
            </p:cNvPr>
            <p:cNvSpPr/>
            <p:nvPr/>
          </p:nvSpPr>
          <p:spPr>
            <a:xfrm>
              <a:off x="0" y="0"/>
              <a:ext cx="236935" cy="739817"/>
            </a:xfrm>
            <a:custGeom>
              <a:avLst/>
              <a:gdLst/>
              <a:ahLst/>
              <a:cxnLst/>
              <a:rect l="l" t="t" r="r" b="b"/>
              <a:pathLst>
                <a:path w="236935" h="739817">
                  <a:moveTo>
                    <a:pt x="0" y="0"/>
                  </a:moveTo>
                  <a:lnTo>
                    <a:pt x="236935" y="0"/>
                  </a:lnTo>
                  <a:lnTo>
                    <a:pt x="236935" y="739817"/>
                  </a:lnTo>
                  <a:lnTo>
                    <a:pt x="0" y="73981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AD06BB83-E422-96F9-8D92-BFFDDEF2E648}"/>
                </a:ext>
              </a:extLst>
            </p:cNvPr>
            <p:cNvSpPr txBox="1"/>
            <p:nvPr/>
          </p:nvSpPr>
          <p:spPr>
            <a:xfrm>
              <a:off x="0" y="47625"/>
              <a:ext cx="236935" cy="692192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ctr">
                <a:lnSpc>
                  <a:spcPts val="3250"/>
                </a:lnSpc>
              </a:pPr>
              <a:r>
                <a:rPr lang="en-US" sz="3250" dirty="0">
                  <a:latin typeface="Unna"/>
                  <a:ea typeface="Unna"/>
                  <a:cs typeface="Unna"/>
                  <a:sym typeface="Unna"/>
                </a:rPr>
                <a:t>1</a:t>
              </a:r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1DE0BC60-49C0-333A-3511-9DEFB1323C16}"/>
              </a:ext>
            </a:extLst>
          </p:cNvPr>
          <p:cNvGrpSpPr/>
          <p:nvPr/>
        </p:nvGrpSpPr>
        <p:grpSpPr>
          <a:xfrm>
            <a:off x="1779389" y="3551485"/>
            <a:ext cx="3460254" cy="451929"/>
            <a:chOff x="0" y="0"/>
            <a:chExt cx="4613672" cy="602573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D3DEE079-7B11-7430-4B06-C3FEBF9E2DAE}"/>
                </a:ext>
              </a:extLst>
            </p:cNvPr>
            <p:cNvSpPr/>
            <p:nvPr/>
          </p:nvSpPr>
          <p:spPr>
            <a:xfrm>
              <a:off x="0" y="0"/>
              <a:ext cx="4613672" cy="602573"/>
            </a:xfrm>
            <a:custGeom>
              <a:avLst/>
              <a:gdLst/>
              <a:ahLst/>
              <a:cxnLst/>
              <a:rect l="l" t="t" r="r" b="b"/>
              <a:pathLst>
                <a:path w="4613672" h="602573">
                  <a:moveTo>
                    <a:pt x="0" y="0"/>
                  </a:moveTo>
                  <a:lnTo>
                    <a:pt x="4613672" y="0"/>
                  </a:lnTo>
                  <a:lnTo>
                    <a:pt x="4613672" y="602573"/>
                  </a:lnTo>
                  <a:lnTo>
                    <a:pt x="0" y="60257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ED886C6B-30CD-1A87-0C67-6E384051B825}"/>
                </a:ext>
              </a:extLst>
            </p:cNvPr>
            <p:cNvSpPr txBox="1"/>
            <p:nvPr/>
          </p:nvSpPr>
          <p:spPr>
            <a:xfrm>
              <a:off x="0" y="-19050"/>
              <a:ext cx="4613672" cy="621623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374"/>
                </a:lnSpc>
              </a:pPr>
              <a:r>
                <a:rPr lang="en-US" sz="2687" dirty="0">
                  <a:latin typeface="Unna"/>
                  <a:ea typeface="Unna"/>
                  <a:cs typeface="Unna"/>
                  <a:sym typeface="Unna"/>
                </a:rPr>
                <a:t>Project Overview</a:t>
              </a:r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id="{43D91E38-4F56-4025-1A6F-E1868914B29D}"/>
              </a:ext>
            </a:extLst>
          </p:cNvPr>
          <p:cNvGrpSpPr/>
          <p:nvPr/>
        </p:nvGrpSpPr>
        <p:grpSpPr>
          <a:xfrm>
            <a:off x="1779389" y="4142035"/>
            <a:ext cx="15585876" cy="421630"/>
            <a:chOff x="0" y="0"/>
            <a:chExt cx="20781168" cy="562173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D6DDA74C-8B1D-5219-1BBA-C65A4E49E618}"/>
                </a:ext>
              </a:extLst>
            </p:cNvPr>
            <p:cNvSpPr/>
            <p:nvPr/>
          </p:nvSpPr>
          <p:spPr>
            <a:xfrm>
              <a:off x="0" y="0"/>
              <a:ext cx="20781169" cy="562173"/>
            </a:xfrm>
            <a:custGeom>
              <a:avLst/>
              <a:gdLst/>
              <a:ahLst/>
              <a:cxnLst/>
              <a:rect l="l" t="t" r="r" b="b"/>
              <a:pathLst>
                <a:path w="20781169" h="562173">
                  <a:moveTo>
                    <a:pt x="0" y="0"/>
                  </a:moveTo>
                  <a:lnTo>
                    <a:pt x="20781169" y="0"/>
                  </a:lnTo>
                  <a:lnTo>
                    <a:pt x="20781169" y="562173"/>
                  </a:lnTo>
                  <a:lnTo>
                    <a:pt x="0" y="56217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0072581B-61E6-6590-9B92-34FA46AB2B1B}"/>
                </a:ext>
              </a:extLst>
            </p:cNvPr>
            <p:cNvSpPr txBox="1"/>
            <p:nvPr/>
          </p:nvSpPr>
          <p:spPr>
            <a:xfrm>
              <a:off x="0" y="-95250"/>
              <a:ext cx="20781168" cy="657423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312"/>
                </a:lnSpc>
              </a:pPr>
              <a:r>
                <a:rPr lang="en-US" sz="2062" dirty="0">
                  <a:latin typeface="Unna"/>
                  <a:ea typeface="Unna"/>
                  <a:cs typeface="Unna"/>
                  <a:sym typeface="Unna"/>
                </a:rPr>
                <a:t> A Smart billing system that enhances customer experience while streamlining store operations for Store Manager side.</a:t>
              </a:r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59FC22C8-74D3-A139-DE61-84EF9F15EBB2}"/>
              </a:ext>
            </a:extLst>
          </p:cNvPr>
          <p:cNvGrpSpPr/>
          <p:nvPr/>
        </p:nvGrpSpPr>
        <p:grpSpPr>
          <a:xfrm>
            <a:off x="917972" y="5118944"/>
            <a:ext cx="602605" cy="602605"/>
            <a:chOff x="0" y="0"/>
            <a:chExt cx="803473" cy="803473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E4B55C27-F700-5072-8341-9ECFF6363D3F}"/>
                </a:ext>
              </a:extLst>
            </p:cNvPr>
            <p:cNvSpPr/>
            <p:nvPr/>
          </p:nvSpPr>
          <p:spPr>
            <a:xfrm>
              <a:off x="6350" y="6350"/>
              <a:ext cx="790829" cy="790829"/>
            </a:xfrm>
            <a:custGeom>
              <a:avLst/>
              <a:gdLst/>
              <a:ahLst/>
              <a:cxnLst/>
              <a:rect l="l" t="t" r="r" b="b"/>
              <a:pathLst>
                <a:path w="790829" h="790829">
                  <a:moveTo>
                    <a:pt x="0" y="147701"/>
                  </a:moveTo>
                  <a:cubicBezTo>
                    <a:pt x="0" y="66040"/>
                    <a:pt x="66040" y="0"/>
                    <a:pt x="147701" y="0"/>
                  </a:cubicBezTo>
                  <a:lnTo>
                    <a:pt x="643128" y="0"/>
                  </a:lnTo>
                  <a:cubicBezTo>
                    <a:pt x="724662" y="0"/>
                    <a:pt x="790829" y="66040"/>
                    <a:pt x="790829" y="147701"/>
                  </a:cubicBezTo>
                  <a:lnTo>
                    <a:pt x="790829" y="643128"/>
                  </a:lnTo>
                  <a:cubicBezTo>
                    <a:pt x="790829" y="724662"/>
                    <a:pt x="724789" y="790829"/>
                    <a:pt x="643128" y="790829"/>
                  </a:cubicBezTo>
                  <a:lnTo>
                    <a:pt x="147701" y="790829"/>
                  </a:lnTo>
                  <a:cubicBezTo>
                    <a:pt x="66040" y="790829"/>
                    <a:pt x="0" y="724662"/>
                    <a:pt x="0" y="643128"/>
                  </a:cubicBezTo>
                  <a:close/>
                </a:path>
              </a:pathLst>
            </a:custGeom>
            <a:solidFill>
              <a:srgbClr val="B48F6A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A8D5302A-615C-2C58-094C-3419B0397361}"/>
                </a:ext>
              </a:extLst>
            </p:cNvPr>
            <p:cNvSpPr/>
            <p:nvPr/>
          </p:nvSpPr>
          <p:spPr>
            <a:xfrm>
              <a:off x="0" y="0"/>
              <a:ext cx="803529" cy="803529"/>
            </a:xfrm>
            <a:custGeom>
              <a:avLst/>
              <a:gdLst/>
              <a:ahLst/>
              <a:cxnLst/>
              <a:rect l="l" t="t" r="r" b="b"/>
              <a:pathLst>
                <a:path w="803529" h="803529">
                  <a:moveTo>
                    <a:pt x="0" y="154051"/>
                  </a:moveTo>
                  <a:cubicBezTo>
                    <a:pt x="0" y="68961"/>
                    <a:pt x="68961" y="0"/>
                    <a:pt x="154051" y="0"/>
                  </a:cubicBezTo>
                  <a:lnTo>
                    <a:pt x="649478" y="0"/>
                  </a:lnTo>
                  <a:lnTo>
                    <a:pt x="649478" y="6350"/>
                  </a:lnTo>
                  <a:lnTo>
                    <a:pt x="649478" y="0"/>
                  </a:lnTo>
                  <a:cubicBezTo>
                    <a:pt x="734568" y="0"/>
                    <a:pt x="803529" y="68961"/>
                    <a:pt x="803529" y="154051"/>
                  </a:cubicBezTo>
                  <a:lnTo>
                    <a:pt x="797179" y="154051"/>
                  </a:lnTo>
                  <a:lnTo>
                    <a:pt x="803529" y="154051"/>
                  </a:lnTo>
                  <a:lnTo>
                    <a:pt x="803529" y="649478"/>
                  </a:lnTo>
                  <a:lnTo>
                    <a:pt x="797179" y="649478"/>
                  </a:lnTo>
                  <a:lnTo>
                    <a:pt x="803529" y="649478"/>
                  </a:lnTo>
                  <a:cubicBezTo>
                    <a:pt x="803529" y="734568"/>
                    <a:pt x="734568" y="803529"/>
                    <a:pt x="649478" y="803529"/>
                  </a:cubicBezTo>
                  <a:lnTo>
                    <a:pt x="649478" y="797179"/>
                  </a:lnTo>
                  <a:lnTo>
                    <a:pt x="649478" y="803529"/>
                  </a:lnTo>
                  <a:lnTo>
                    <a:pt x="154051" y="803529"/>
                  </a:lnTo>
                  <a:lnTo>
                    <a:pt x="154051" y="797179"/>
                  </a:lnTo>
                  <a:lnTo>
                    <a:pt x="154051" y="803529"/>
                  </a:lnTo>
                  <a:cubicBezTo>
                    <a:pt x="68961" y="803529"/>
                    <a:pt x="0" y="734568"/>
                    <a:pt x="0" y="649478"/>
                  </a:cubicBezTo>
                  <a:lnTo>
                    <a:pt x="0" y="154051"/>
                  </a:lnTo>
                  <a:lnTo>
                    <a:pt x="6350" y="154051"/>
                  </a:lnTo>
                  <a:lnTo>
                    <a:pt x="0" y="154051"/>
                  </a:lnTo>
                  <a:moveTo>
                    <a:pt x="12700" y="154051"/>
                  </a:moveTo>
                  <a:lnTo>
                    <a:pt x="12700" y="649478"/>
                  </a:lnTo>
                  <a:lnTo>
                    <a:pt x="6350" y="649478"/>
                  </a:lnTo>
                  <a:lnTo>
                    <a:pt x="12700" y="649478"/>
                  </a:lnTo>
                  <a:cubicBezTo>
                    <a:pt x="12700" y="727456"/>
                    <a:pt x="75946" y="790829"/>
                    <a:pt x="154051" y="790829"/>
                  </a:cubicBezTo>
                  <a:lnTo>
                    <a:pt x="649478" y="790829"/>
                  </a:lnTo>
                  <a:cubicBezTo>
                    <a:pt x="727456" y="790829"/>
                    <a:pt x="790829" y="727583"/>
                    <a:pt x="790829" y="649478"/>
                  </a:cubicBezTo>
                  <a:lnTo>
                    <a:pt x="790829" y="154051"/>
                  </a:lnTo>
                  <a:cubicBezTo>
                    <a:pt x="790829" y="75946"/>
                    <a:pt x="727456" y="12700"/>
                    <a:pt x="649478" y="12700"/>
                  </a:cubicBezTo>
                  <a:lnTo>
                    <a:pt x="154051" y="12700"/>
                  </a:lnTo>
                  <a:lnTo>
                    <a:pt x="154051" y="6350"/>
                  </a:lnTo>
                  <a:lnTo>
                    <a:pt x="154051" y="12700"/>
                  </a:lnTo>
                  <a:cubicBezTo>
                    <a:pt x="75946" y="12700"/>
                    <a:pt x="12700" y="75946"/>
                    <a:pt x="12700" y="154051"/>
                  </a:cubicBezTo>
                  <a:close/>
                </a:path>
              </a:pathLst>
            </a:custGeom>
            <a:solidFill>
              <a:srgbClr val="F7F2ED"/>
            </a:solidFill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id="{22F881DB-47ED-783B-A227-4F1D1ADB67FC}"/>
              </a:ext>
            </a:extLst>
          </p:cNvPr>
          <p:cNvGrpSpPr/>
          <p:nvPr/>
        </p:nvGrpSpPr>
        <p:grpSpPr>
          <a:xfrm>
            <a:off x="1101478" y="5212556"/>
            <a:ext cx="235446" cy="554863"/>
            <a:chOff x="0" y="0"/>
            <a:chExt cx="313928" cy="739817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C49166E0-997E-FD9D-58C5-1E0D3D64471B}"/>
                </a:ext>
              </a:extLst>
            </p:cNvPr>
            <p:cNvSpPr/>
            <p:nvPr/>
          </p:nvSpPr>
          <p:spPr>
            <a:xfrm>
              <a:off x="0" y="0"/>
              <a:ext cx="313928" cy="739817"/>
            </a:xfrm>
            <a:custGeom>
              <a:avLst/>
              <a:gdLst/>
              <a:ahLst/>
              <a:cxnLst/>
              <a:rect l="l" t="t" r="r" b="b"/>
              <a:pathLst>
                <a:path w="313928" h="739817">
                  <a:moveTo>
                    <a:pt x="0" y="0"/>
                  </a:moveTo>
                  <a:lnTo>
                    <a:pt x="313928" y="0"/>
                  </a:lnTo>
                  <a:lnTo>
                    <a:pt x="313928" y="739817"/>
                  </a:lnTo>
                  <a:lnTo>
                    <a:pt x="0" y="73981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E9D6FF5B-6516-7630-E606-2B5A09D546C2}"/>
                </a:ext>
              </a:extLst>
            </p:cNvPr>
            <p:cNvSpPr txBox="1"/>
            <p:nvPr/>
          </p:nvSpPr>
          <p:spPr>
            <a:xfrm>
              <a:off x="0" y="47625"/>
              <a:ext cx="313928" cy="692192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ctr">
                <a:lnSpc>
                  <a:spcPts val="3250"/>
                </a:lnSpc>
              </a:pPr>
              <a:r>
                <a:rPr lang="en-US" sz="3250" dirty="0">
                  <a:latin typeface="Unna"/>
                  <a:ea typeface="Unna"/>
                  <a:cs typeface="Unna"/>
                  <a:sym typeface="Unna"/>
                </a:rPr>
                <a:t>2</a:t>
              </a:r>
            </a:p>
          </p:txBody>
        </p:sp>
      </p:grpSp>
      <p:grpSp>
        <p:nvGrpSpPr>
          <p:cNvPr id="28" name="Group 28">
            <a:extLst>
              <a:ext uri="{FF2B5EF4-FFF2-40B4-BE49-F238E27FC236}">
                <a16:creationId xmlns:a16="http://schemas.microsoft.com/office/drawing/2014/main" id="{0A55169B-A821-3444-C30A-D26F90B804FE}"/>
              </a:ext>
            </a:extLst>
          </p:cNvPr>
          <p:cNvGrpSpPr/>
          <p:nvPr/>
        </p:nvGrpSpPr>
        <p:grpSpPr>
          <a:xfrm>
            <a:off x="1779389" y="5123706"/>
            <a:ext cx="3460254" cy="451930"/>
            <a:chOff x="0" y="0"/>
            <a:chExt cx="4613672" cy="602573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50F5F760-3A5F-E109-8D8A-081EEAE20F6E}"/>
                </a:ext>
              </a:extLst>
            </p:cNvPr>
            <p:cNvSpPr/>
            <p:nvPr/>
          </p:nvSpPr>
          <p:spPr>
            <a:xfrm>
              <a:off x="0" y="0"/>
              <a:ext cx="4613672" cy="602573"/>
            </a:xfrm>
            <a:custGeom>
              <a:avLst/>
              <a:gdLst/>
              <a:ahLst/>
              <a:cxnLst/>
              <a:rect l="l" t="t" r="r" b="b"/>
              <a:pathLst>
                <a:path w="4613672" h="602573">
                  <a:moveTo>
                    <a:pt x="0" y="0"/>
                  </a:moveTo>
                  <a:lnTo>
                    <a:pt x="4613672" y="0"/>
                  </a:lnTo>
                  <a:lnTo>
                    <a:pt x="4613672" y="602573"/>
                  </a:lnTo>
                  <a:lnTo>
                    <a:pt x="0" y="60257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id="{50F43DB1-6366-3673-FCDA-C8719667EDFA}"/>
                </a:ext>
              </a:extLst>
            </p:cNvPr>
            <p:cNvSpPr txBox="1"/>
            <p:nvPr/>
          </p:nvSpPr>
          <p:spPr>
            <a:xfrm>
              <a:off x="0" y="-19050"/>
              <a:ext cx="4613672" cy="621623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374"/>
                </a:lnSpc>
              </a:pPr>
              <a:r>
                <a:rPr lang="en-US" sz="2687" dirty="0">
                  <a:latin typeface="Unna"/>
                  <a:ea typeface="Unna"/>
                  <a:cs typeface="Unna"/>
                  <a:sym typeface="Unna"/>
                </a:rPr>
                <a:t>Features</a:t>
              </a:r>
            </a:p>
          </p:txBody>
        </p:sp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id="{D9CEDAE9-5034-DAFB-3A65-3EACEF696E16}"/>
              </a:ext>
            </a:extLst>
          </p:cNvPr>
          <p:cNvGrpSpPr/>
          <p:nvPr/>
        </p:nvGrpSpPr>
        <p:grpSpPr>
          <a:xfrm>
            <a:off x="1779389" y="5714256"/>
            <a:ext cx="15585876" cy="843260"/>
            <a:chOff x="0" y="0"/>
            <a:chExt cx="20781168" cy="1124347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EE6937A8-461A-F042-280C-D89ACFA39182}"/>
                </a:ext>
              </a:extLst>
            </p:cNvPr>
            <p:cNvSpPr/>
            <p:nvPr/>
          </p:nvSpPr>
          <p:spPr>
            <a:xfrm>
              <a:off x="0" y="0"/>
              <a:ext cx="20781169" cy="1124347"/>
            </a:xfrm>
            <a:custGeom>
              <a:avLst/>
              <a:gdLst/>
              <a:ahLst/>
              <a:cxnLst/>
              <a:rect l="l" t="t" r="r" b="b"/>
              <a:pathLst>
                <a:path w="20781169" h="1124347">
                  <a:moveTo>
                    <a:pt x="0" y="0"/>
                  </a:moveTo>
                  <a:lnTo>
                    <a:pt x="20781169" y="0"/>
                  </a:lnTo>
                  <a:lnTo>
                    <a:pt x="20781169" y="1124347"/>
                  </a:lnTo>
                  <a:lnTo>
                    <a:pt x="0" y="112434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3" name="TextBox 33">
              <a:extLst>
                <a:ext uri="{FF2B5EF4-FFF2-40B4-BE49-F238E27FC236}">
                  <a16:creationId xmlns:a16="http://schemas.microsoft.com/office/drawing/2014/main" id="{6E5F8718-698D-3A01-59E0-23FDA390230E}"/>
                </a:ext>
              </a:extLst>
            </p:cNvPr>
            <p:cNvSpPr txBox="1"/>
            <p:nvPr/>
          </p:nvSpPr>
          <p:spPr>
            <a:xfrm>
              <a:off x="0" y="-95250"/>
              <a:ext cx="20781168" cy="1219597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312"/>
                </a:lnSpc>
              </a:pPr>
              <a:r>
                <a:rPr lang="en-US" sz="2062" dirty="0">
                  <a:latin typeface="Unna"/>
                  <a:ea typeface="Unna"/>
                  <a:cs typeface="Unna"/>
                  <a:sym typeface="Unna"/>
                </a:rPr>
                <a:t>Real-time billing, smart coins, discounts, and personalized shopping experience for Customers, and Store Manager Functionalities.</a:t>
              </a:r>
            </a:p>
          </p:txBody>
        </p:sp>
      </p:grpSp>
      <p:grpSp>
        <p:nvGrpSpPr>
          <p:cNvPr id="34" name="Group 34">
            <a:extLst>
              <a:ext uri="{FF2B5EF4-FFF2-40B4-BE49-F238E27FC236}">
                <a16:creationId xmlns:a16="http://schemas.microsoft.com/office/drawing/2014/main" id="{B9CDDFC1-FF86-363A-8394-459087348E0D}"/>
              </a:ext>
            </a:extLst>
          </p:cNvPr>
          <p:cNvGrpSpPr/>
          <p:nvPr/>
        </p:nvGrpSpPr>
        <p:grpSpPr>
          <a:xfrm>
            <a:off x="800175" y="6778262"/>
            <a:ext cx="602605" cy="602605"/>
            <a:chOff x="0" y="0"/>
            <a:chExt cx="803473" cy="803473"/>
          </a:xfrm>
        </p:grpSpPr>
        <p:sp>
          <p:nvSpPr>
            <p:cNvPr id="35" name="Freeform 35">
              <a:extLst>
                <a:ext uri="{FF2B5EF4-FFF2-40B4-BE49-F238E27FC236}">
                  <a16:creationId xmlns:a16="http://schemas.microsoft.com/office/drawing/2014/main" id="{C6359B4C-ADF1-9DDE-86BD-6B69C35FD030}"/>
                </a:ext>
              </a:extLst>
            </p:cNvPr>
            <p:cNvSpPr/>
            <p:nvPr/>
          </p:nvSpPr>
          <p:spPr>
            <a:xfrm>
              <a:off x="6350" y="6350"/>
              <a:ext cx="790829" cy="790829"/>
            </a:xfrm>
            <a:custGeom>
              <a:avLst/>
              <a:gdLst/>
              <a:ahLst/>
              <a:cxnLst/>
              <a:rect l="l" t="t" r="r" b="b"/>
              <a:pathLst>
                <a:path w="790829" h="790829">
                  <a:moveTo>
                    <a:pt x="0" y="147701"/>
                  </a:moveTo>
                  <a:cubicBezTo>
                    <a:pt x="0" y="66040"/>
                    <a:pt x="66040" y="0"/>
                    <a:pt x="147701" y="0"/>
                  </a:cubicBezTo>
                  <a:lnTo>
                    <a:pt x="643128" y="0"/>
                  </a:lnTo>
                  <a:cubicBezTo>
                    <a:pt x="724662" y="0"/>
                    <a:pt x="790829" y="66040"/>
                    <a:pt x="790829" y="147701"/>
                  </a:cubicBezTo>
                  <a:lnTo>
                    <a:pt x="790829" y="643128"/>
                  </a:lnTo>
                  <a:cubicBezTo>
                    <a:pt x="790829" y="724662"/>
                    <a:pt x="724789" y="790829"/>
                    <a:pt x="643128" y="790829"/>
                  </a:cubicBezTo>
                  <a:lnTo>
                    <a:pt x="147701" y="790829"/>
                  </a:lnTo>
                  <a:cubicBezTo>
                    <a:pt x="66040" y="790829"/>
                    <a:pt x="0" y="724662"/>
                    <a:pt x="0" y="643128"/>
                  </a:cubicBezTo>
                  <a:close/>
                </a:path>
              </a:pathLst>
            </a:custGeom>
            <a:solidFill>
              <a:srgbClr val="B48F6A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id="{58A3943D-DED3-9CE9-5144-EA527F631409}"/>
                </a:ext>
              </a:extLst>
            </p:cNvPr>
            <p:cNvSpPr/>
            <p:nvPr/>
          </p:nvSpPr>
          <p:spPr>
            <a:xfrm>
              <a:off x="0" y="0"/>
              <a:ext cx="803529" cy="803529"/>
            </a:xfrm>
            <a:custGeom>
              <a:avLst/>
              <a:gdLst/>
              <a:ahLst/>
              <a:cxnLst/>
              <a:rect l="l" t="t" r="r" b="b"/>
              <a:pathLst>
                <a:path w="803529" h="803529">
                  <a:moveTo>
                    <a:pt x="0" y="154051"/>
                  </a:moveTo>
                  <a:cubicBezTo>
                    <a:pt x="0" y="68961"/>
                    <a:pt x="68961" y="0"/>
                    <a:pt x="154051" y="0"/>
                  </a:cubicBezTo>
                  <a:lnTo>
                    <a:pt x="649478" y="0"/>
                  </a:lnTo>
                  <a:lnTo>
                    <a:pt x="649478" y="6350"/>
                  </a:lnTo>
                  <a:lnTo>
                    <a:pt x="649478" y="0"/>
                  </a:lnTo>
                  <a:cubicBezTo>
                    <a:pt x="734568" y="0"/>
                    <a:pt x="803529" y="68961"/>
                    <a:pt x="803529" y="154051"/>
                  </a:cubicBezTo>
                  <a:lnTo>
                    <a:pt x="797179" y="154051"/>
                  </a:lnTo>
                  <a:lnTo>
                    <a:pt x="803529" y="154051"/>
                  </a:lnTo>
                  <a:lnTo>
                    <a:pt x="803529" y="649478"/>
                  </a:lnTo>
                  <a:lnTo>
                    <a:pt x="797179" y="649478"/>
                  </a:lnTo>
                  <a:lnTo>
                    <a:pt x="803529" y="649478"/>
                  </a:lnTo>
                  <a:cubicBezTo>
                    <a:pt x="803529" y="734568"/>
                    <a:pt x="734568" y="803529"/>
                    <a:pt x="649478" y="803529"/>
                  </a:cubicBezTo>
                  <a:lnTo>
                    <a:pt x="649478" y="797179"/>
                  </a:lnTo>
                  <a:lnTo>
                    <a:pt x="649478" y="803529"/>
                  </a:lnTo>
                  <a:lnTo>
                    <a:pt x="154051" y="803529"/>
                  </a:lnTo>
                  <a:lnTo>
                    <a:pt x="154051" y="797179"/>
                  </a:lnTo>
                  <a:lnTo>
                    <a:pt x="154051" y="803529"/>
                  </a:lnTo>
                  <a:cubicBezTo>
                    <a:pt x="68961" y="803529"/>
                    <a:pt x="0" y="734568"/>
                    <a:pt x="0" y="649478"/>
                  </a:cubicBezTo>
                  <a:lnTo>
                    <a:pt x="0" y="154051"/>
                  </a:lnTo>
                  <a:lnTo>
                    <a:pt x="6350" y="154051"/>
                  </a:lnTo>
                  <a:lnTo>
                    <a:pt x="0" y="154051"/>
                  </a:lnTo>
                  <a:moveTo>
                    <a:pt x="12700" y="154051"/>
                  </a:moveTo>
                  <a:lnTo>
                    <a:pt x="12700" y="649478"/>
                  </a:lnTo>
                  <a:lnTo>
                    <a:pt x="6350" y="649478"/>
                  </a:lnTo>
                  <a:lnTo>
                    <a:pt x="12700" y="649478"/>
                  </a:lnTo>
                  <a:cubicBezTo>
                    <a:pt x="12700" y="727456"/>
                    <a:pt x="75946" y="790829"/>
                    <a:pt x="154051" y="790829"/>
                  </a:cubicBezTo>
                  <a:lnTo>
                    <a:pt x="649478" y="790829"/>
                  </a:lnTo>
                  <a:cubicBezTo>
                    <a:pt x="727456" y="790829"/>
                    <a:pt x="790829" y="727583"/>
                    <a:pt x="790829" y="649478"/>
                  </a:cubicBezTo>
                  <a:lnTo>
                    <a:pt x="790829" y="154051"/>
                  </a:lnTo>
                  <a:cubicBezTo>
                    <a:pt x="790829" y="75946"/>
                    <a:pt x="727456" y="12700"/>
                    <a:pt x="649478" y="12700"/>
                  </a:cubicBezTo>
                  <a:lnTo>
                    <a:pt x="154051" y="12700"/>
                  </a:lnTo>
                  <a:lnTo>
                    <a:pt x="154051" y="6350"/>
                  </a:lnTo>
                  <a:lnTo>
                    <a:pt x="154051" y="12700"/>
                  </a:lnTo>
                  <a:cubicBezTo>
                    <a:pt x="75946" y="12700"/>
                    <a:pt x="12700" y="75946"/>
                    <a:pt x="12700" y="154051"/>
                  </a:cubicBezTo>
                  <a:close/>
                </a:path>
              </a:pathLst>
            </a:custGeom>
            <a:solidFill>
              <a:srgbClr val="F7F2ED"/>
            </a:solidFill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37" name="Group 37">
            <a:extLst>
              <a:ext uri="{FF2B5EF4-FFF2-40B4-BE49-F238E27FC236}">
                <a16:creationId xmlns:a16="http://schemas.microsoft.com/office/drawing/2014/main" id="{E7CC722F-1FAF-226B-8341-0D5536D28722}"/>
              </a:ext>
            </a:extLst>
          </p:cNvPr>
          <p:cNvGrpSpPr/>
          <p:nvPr/>
        </p:nvGrpSpPr>
        <p:grpSpPr>
          <a:xfrm>
            <a:off x="983978" y="6871874"/>
            <a:ext cx="235000" cy="554863"/>
            <a:chOff x="0" y="0"/>
            <a:chExt cx="313333" cy="739817"/>
          </a:xfrm>
        </p:grpSpPr>
        <p:sp>
          <p:nvSpPr>
            <p:cNvPr id="38" name="Freeform 38">
              <a:extLst>
                <a:ext uri="{FF2B5EF4-FFF2-40B4-BE49-F238E27FC236}">
                  <a16:creationId xmlns:a16="http://schemas.microsoft.com/office/drawing/2014/main" id="{226CB70A-7819-095B-97CD-4203EE7F6840}"/>
                </a:ext>
              </a:extLst>
            </p:cNvPr>
            <p:cNvSpPr/>
            <p:nvPr/>
          </p:nvSpPr>
          <p:spPr>
            <a:xfrm>
              <a:off x="0" y="0"/>
              <a:ext cx="313333" cy="739817"/>
            </a:xfrm>
            <a:custGeom>
              <a:avLst/>
              <a:gdLst/>
              <a:ahLst/>
              <a:cxnLst/>
              <a:rect l="l" t="t" r="r" b="b"/>
              <a:pathLst>
                <a:path w="313333" h="739817">
                  <a:moveTo>
                    <a:pt x="0" y="0"/>
                  </a:moveTo>
                  <a:lnTo>
                    <a:pt x="313333" y="0"/>
                  </a:lnTo>
                  <a:lnTo>
                    <a:pt x="313333" y="739817"/>
                  </a:lnTo>
                  <a:lnTo>
                    <a:pt x="0" y="73981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9" name="TextBox 39">
              <a:extLst>
                <a:ext uri="{FF2B5EF4-FFF2-40B4-BE49-F238E27FC236}">
                  <a16:creationId xmlns:a16="http://schemas.microsoft.com/office/drawing/2014/main" id="{0CDFCE64-1F1E-8408-EF02-FAB602700640}"/>
                </a:ext>
              </a:extLst>
            </p:cNvPr>
            <p:cNvSpPr txBox="1"/>
            <p:nvPr/>
          </p:nvSpPr>
          <p:spPr>
            <a:xfrm>
              <a:off x="0" y="47625"/>
              <a:ext cx="313333" cy="692192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ctr">
                <a:lnSpc>
                  <a:spcPts val="3250"/>
                </a:lnSpc>
              </a:pPr>
              <a:r>
                <a:rPr lang="en-US" sz="3250" dirty="0">
                  <a:latin typeface="Unna"/>
                  <a:ea typeface="Unna"/>
                  <a:cs typeface="Unna"/>
                  <a:sym typeface="Unna"/>
                </a:rPr>
                <a:t>3</a:t>
              </a:r>
            </a:p>
          </p:txBody>
        </p:sp>
      </p:grpSp>
      <p:grpSp>
        <p:nvGrpSpPr>
          <p:cNvPr id="40" name="Group 40">
            <a:extLst>
              <a:ext uri="{FF2B5EF4-FFF2-40B4-BE49-F238E27FC236}">
                <a16:creationId xmlns:a16="http://schemas.microsoft.com/office/drawing/2014/main" id="{D3DF4BD6-2150-AE9A-8267-31B801F80BF7}"/>
              </a:ext>
            </a:extLst>
          </p:cNvPr>
          <p:cNvGrpSpPr/>
          <p:nvPr/>
        </p:nvGrpSpPr>
        <p:grpSpPr>
          <a:xfrm>
            <a:off x="1661592" y="6783024"/>
            <a:ext cx="3460254" cy="451930"/>
            <a:chOff x="0" y="0"/>
            <a:chExt cx="4613672" cy="602573"/>
          </a:xfrm>
        </p:grpSpPr>
        <p:sp>
          <p:nvSpPr>
            <p:cNvPr id="41" name="Freeform 41">
              <a:extLst>
                <a:ext uri="{FF2B5EF4-FFF2-40B4-BE49-F238E27FC236}">
                  <a16:creationId xmlns:a16="http://schemas.microsoft.com/office/drawing/2014/main" id="{2A16D14C-6D3D-8B03-0AC2-6137C2713B1A}"/>
                </a:ext>
              </a:extLst>
            </p:cNvPr>
            <p:cNvSpPr/>
            <p:nvPr/>
          </p:nvSpPr>
          <p:spPr>
            <a:xfrm>
              <a:off x="0" y="0"/>
              <a:ext cx="4613672" cy="602573"/>
            </a:xfrm>
            <a:custGeom>
              <a:avLst/>
              <a:gdLst/>
              <a:ahLst/>
              <a:cxnLst/>
              <a:rect l="l" t="t" r="r" b="b"/>
              <a:pathLst>
                <a:path w="4613672" h="602573">
                  <a:moveTo>
                    <a:pt x="0" y="0"/>
                  </a:moveTo>
                  <a:lnTo>
                    <a:pt x="4613672" y="0"/>
                  </a:lnTo>
                  <a:lnTo>
                    <a:pt x="4613672" y="602573"/>
                  </a:lnTo>
                  <a:lnTo>
                    <a:pt x="0" y="60257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2" name="TextBox 42">
              <a:extLst>
                <a:ext uri="{FF2B5EF4-FFF2-40B4-BE49-F238E27FC236}">
                  <a16:creationId xmlns:a16="http://schemas.microsoft.com/office/drawing/2014/main" id="{789DB271-D9DB-8AC2-6A18-920E2B0C49BA}"/>
                </a:ext>
              </a:extLst>
            </p:cNvPr>
            <p:cNvSpPr txBox="1"/>
            <p:nvPr/>
          </p:nvSpPr>
          <p:spPr>
            <a:xfrm>
              <a:off x="0" y="-19050"/>
              <a:ext cx="4613672" cy="621623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374"/>
                </a:lnSpc>
              </a:pPr>
              <a:r>
                <a:rPr lang="en-US" sz="2687" dirty="0">
                  <a:latin typeface="Unna"/>
                  <a:ea typeface="Unna"/>
                  <a:cs typeface="Unna"/>
                  <a:sym typeface="Unna"/>
                </a:rPr>
                <a:t>Key Objectives</a:t>
              </a:r>
            </a:p>
          </p:txBody>
        </p:sp>
      </p:grpSp>
      <p:grpSp>
        <p:nvGrpSpPr>
          <p:cNvPr id="43" name="Group 43">
            <a:extLst>
              <a:ext uri="{FF2B5EF4-FFF2-40B4-BE49-F238E27FC236}">
                <a16:creationId xmlns:a16="http://schemas.microsoft.com/office/drawing/2014/main" id="{2C90681E-7DBC-EA33-943B-B3C31EEAFA92}"/>
              </a:ext>
            </a:extLst>
          </p:cNvPr>
          <p:cNvGrpSpPr/>
          <p:nvPr/>
        </p:nvGrpSpPr>
        <p:grpSpPr>
          <a:xfrm>
            <a:off x="1661592" y="7373574"/>
            <a:ext cx="15585876" cy="843260"/>
            <a:chOff x="0" y="0"/>
            <a:chExt cx="20781168" cy="1124347"/>
          </a:xfrm>
        </p:grpSpPr>
        <p:sp>
          <p:nvSpPr>
            <p:cNvPr id="44" name="Freeform 44">
              <a:extLst>
                <a:ext uri="{FF2B5EF4-FFF2-40B4-BE49-F238E27FC236}">
                  <a16:creationId xmlns:a16="http://schemas.microsoft.com/office/drawing/2014/main" id="{4E051612-32EF-1DF9-E46E-8A3D39B9BB53}"/>
                </a:ext>
              </a:extLst>
            </p:cNvPr>
            <p:cNvSpPr/>
            <p:nvPr/>
          </p:nvSpPr>
          <p:spPr>
            <a:xfrm>
              <a:off x="0" y="0"/>
              <a:ext cx="20781169" cy="1124347"/>
            </a:xfrm>
            <a:custGeom>
              <a:avLst/>
              <a:gdLst/>
              <a:ahLst/>
              <a:cxnLst/>
              <a:rect l="l" t="t" r="r" b="b"/>
              <a:pathLst>
                <a:path w="20781169" h="1124347">
                  <a:moveTo>
                    <a:pt x="0" y="0"/>
                  </a:moveTo>
                  <a:lnTo>
                    <a:pt x="20781169" y="0"/>
                  </a:lnTo>
                  <a:lnTo>
                    <a:pt x="20781169" y="1124347"/>
                  </a:lnTo>
                  <a:lnTo>
                    <a:pt x="0" y="112434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5" name="TextBox 45">
              <a:extLst>
                <a:ext uri="{FF2B5EF4-FFF2-40B4-BE49-F238E27FC236}">
                  <a16:creationId xmlns:a16="http://schemas.microsoft.com/office/drawing/2014/main" id="{29A39933-1A6D-A12A-2181-D80DC6FC585B}"/>
                </a:ext>
              </a:extLst>
            </p:cNvPr>
            <p:cNvSpPr txBox="1"/>
            <p:nvPr/>
          </p:nvSpPr>
          <p:spPr>
            <a:xfrm>
              <a:off x="0" y="-95250"/>
              <a:ext cx="20781168" cy="1219597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312"/>
                </a:lnSpc>
              </a:pPr>
              <a:r>
                <a:rPr lang="en-US" sz="2062" dirty="0">
                  <a:latin typeface="Unna"/>
                  <a:ea typeface="Unna"/>
                  <a:cs typeface="Unna"/>
                  <a:sym typeface="Unna"/>
                </a:rPr>
                <a:t>• For Customers: A hassle-free shopping experience with smart discounts, real-time bill generation, spending analytics, and many more ...</a:t>
              </a:r>
            </a:p>
          </p:txBody>
        </p:sp>
      </p:grpSp>
      <p:grpSp>
        <p:nvGrpSpPr>
          <p:cNvPr id="46" name="Group 46">
            <a:extLst>
              <a:ext uri="{FF2B5EF4-FFF2-40B4-BE49-F238E27FC236}">
                <a16:creationId xmlns:a16="http://schemas.microsoft.com/office/drawing/2014/main" id="{E471D724-EB19-4F32-2288-F608806FEDFA}"/>
              </a:ext>
            </a:extLst>
          </p:cNvPr>
          <p:cNvGrpSpPr/>
          <p:nvPr/>
        </p:nvGrpSpPr>
        <p:grpSpPr>
          <a:xfrm>
            <a:off x="1555627" y="8080508"/>
            <a:ext cx="15585876" cy="843260"/>
            <a:chOff x="0" y="0"/>
            <a:chExt cx="20781168" cy="1124347"/>
          </a:xfrm>
        </p:grpSpPr>
        <p:sp>
          <p:nvSpPr>
            <p:cNvPr id="47" name="Freeform 47">
              <a:extLst>
                <a:ext uri="{FF2B5EF4-FFF2-40B4-BE49-F238E27FC236}">
                  <a16:creationId xmlns:a16="http://schemas.microsoft.com/office/drawing/2014/main" id="{39D22CD9-3ABC-776C-BE91-3EBD79D14B93}"/>
                </a:ext>
              </a:extLst>
            </p:cNvPr>
            <p:cNvSpPr/>
            <p:nvPr/>
          </p:nvSpPr>
          <p:spPr>
            <a:xfrm>
              <a:off x="0" y="0"/>
              <a:ext cx="20781169" cy="1124347"/>
            </a:xfrm>
            <a:custGeom>
              <a:avLst/>
              <a:gdLst/>
              <a:ahLst/>
              <a:cxnLst/>
              <a:rect l="l" t="t" r="r" b="b"/>
              <a:pathLst>
                <a:path w="20781169" h="1124347">
                  <a:moveTo>
                    <a:pt x="0" y="0"/>
                  </a:moveTo>
                  <a:lnTo>
                    <a:pt x="20781169" y="0"/>
                  </a:lnTo>
                  <a:lnTo>
                    <a:pt x="20781169" y="1124347"/>
                  </a:lnTo>
                  <a:lnTo>
                    <a:pt x="0" y="112434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" name="TextBox 48">
              <a:extLst>
                <a:ext uri="{FF2B5EF4-FFF2-40B4-BE49-F238E27FC236}">
                  <a16:creationId xmlns:a16="http://schemas.microsoft.com/office/drawing/2014/main" id="{73CA5F6B-9216-E886-2FA8-6F61905FB7BA}"/>
                </a:ext>
              </a:extLst>
            </p:cNvPr>
            <p:cNvSpPr txBox="1"/>
            <p:nvPr/>
          </p:nvSpPr>
          <p:spPr>
            <a:xfrm>
              <a:off x="0" y="-95250"/>
              <a:ext cx="20781168" cy="1219597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312"/>
                </a:lnSpc>
              </a:pPr>
              <a:r>
                <a:rPr lang="en-US" sz="2062" dirty="0">
                  <a:latin typeface="Unna"/>
                  <a:ea typeface="Unna"/>
                  <a:cs typeface="Unna"/>
                  <a:sym typeface="Unna"/>
                </a:rPr>
                <a:t> • For Store Managers: Efficient store management with sales reports, inventory tracking, promotional campaigns, and customer insights.</a:t>
              </a:r>
            </a:p>
          </p:txBody>
        </p:sp>
      </p:grpSp>
      <p:pic>
        <p:nvPicPr>
          <p:cNvPr id="50" name="Picture 49">
            <a:extLst>
              <a:ext uri="{FF2B5EF4-FFF2-40B4-BE49-F238E27FC236}">
                <a16:creationId xmlns:a16="http://schemas.microsoft.com/office/drawing/2014/main" id="{D66F962B-ED16-08FE-948D-6BF1DEE2499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37" y="103519"/>
            <a:ext cx="1112268" cy="1164566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BCE61078-A71B-95B6-F281-5E58B86E59D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91" t="16832" b="13861"/>
          <a:stretch/>
        </p:blipFill>
        <p:spPr>
          <a:xfrm>
            <a:off x="13427247" y="1"/>
            <a:ext cx="4728777" cy="905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448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914400" y="1409700"/>
            <a:ext cx="7415212" cy="955327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algn="l">
              <a:lnSpc>
                <a:spcPts val="6735"/>
              </a:lnSpc>
            </a:pPr>
            <a:r>
              <a:rPr lang="en-US" sz="5400" dirty="0">
                <a:latin typeface="Unna"/>
                <a:ea typeface="Unna"/>
                <a:cs typeface="Unna"/>
                <a:sym typeface="Unna"/>
              </a:rPr>
              <a:t>Project Workflow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7CB1DB2-A057-DB76-97D7-92AB56863B6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37" y="103519"/>
            <a:ext cx="1112268" cy="116456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559C961-61DE-9479-6147-514C2DA76C2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91" t="16832" b="13861"/>
          <a:stretch/>
        </p:blipFill>
        <p:spPr>
          <a:xfrm>
            <a:off x="13427247" y="1"/>
            <a:ext cx="4728777" cy="905774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70A37940-C30E-4522-C2D8-40105959006F}"/>
              </a:ext>
            </a:extLst>
          </p:cNvPr>
          <p:cNvSpPr txBox="1"/>
          <p:nvPr/>
        </p:nvSpPr>
        <p:spPr>
          <a:xfrm>
            <a:off x="895350" y="2857500"/>
            <a:ext cx="1436476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hlinkClick r:id="rId5"/>
              </a:rPr>
              <a:t>https://whimsical.com/smart-billing-and-customer-services-GuFWmM5skyAapzvNQc8vMH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2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E594E0-26C9-3CAE-4D3C-3D8B251CB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8E4B994-10CD-EC40-BC2D-1B35C4A461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37" y="103519"/>
            <a:ext cx="1112268" cy="116456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E6F6034-9CC3-3060-244F-2A125B928CA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91" t="16832" b="13861"/>
          <a:stretch/>
        </p:blipFill>
        <p:spPr>
          <a:xfrm>
            <a:off x="13427247" y="1"/>
            <a:ext cx="4728777" cy="905774"/>
          </a:xfrm>
          <a:prstGeom prst="rect">
            <a:avLst/>
          </a:prstGeom>
        </p:spPr>
      </p:pic>
      <p:sp>
        <p:nvSpPr>
          <p:cNvPr id="30" name="TextBox 6">
            <a:extLst>
              <a:ext uri="{FF2B5EF4-FFF2-40B4-BE49-F238E27FC236}">
                <a16:creationId xmlns:a16="http://schemas.microsoft.com/office/drawing/2014/main" id="{40EAADBA-97E9-5D7A-A001-42243A17BCB8}"/>
              </a:ext>
            </a:extLst>
          </p:cNvPr>
          <p:cNvSpPr txBox="1"/>
          <p:nvPr/>
        </p:nvSpPr>
        <p:spPr>
          <a:xfrm>
            <a:off x="909637" y="1115014"/>
            <a:ext cx="6043613" cy="955327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algn="l">
              <a:lnSpc>
                <a:spcPts val="6735"/>
              </a:lnSpc>
            </a:pPr>
            <a:r>
              <a:rPr lang="en-US" sz="5400" dirty="0">
                <a:latin typeface="Unna"/>
                <a:ea typeface="Unna"/>
                <a:cs typeface="Unna"/>
                <a:sym typeface="Unna"/>
              </a:rPr>
              <a:t>Database ER Diagram </a:t>
            </a:r>
          </a:p>
        </p:txBody>
      </p:sp>
      <p:pic>
        <p:nvPicPr>
          <p:cNvPr id="32" name="Picture 31" descr="A diagram of a company&#10;&#10;AI-generated content may be incorrect.">
            <a:extLst>
              <a:ext uri="{FF2B5EF4-FFF2-40B4-BE49-F238E27FC236}">
                <a16:creationId xmlns:a16="http://schemas.microsoft.com/office/drawing/2014/main" id="{E9B52FAF-5B4D-A0F5-C357-7A7E9AA54CD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1" y="2070342"/>
            <a:ext cx="14706599" cy="8113140"/>
          </a:xfrm>
          <a:prstGeom prst="rect">
            <a:avLst/>
          </a:prstGeom>
          <a:noFill/>
          <a:ln>
            <a:noFill/>
          </a:ln>
          <a:effectLst>
            <a:reflection endPos="0" dist="50800" dir="5400000" sy="-100000" algn="bl" rotWithShape="0"/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26329069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98586" y="1028700"/>
            <a:ext cx="8719363" cy="1140334"/>
            <a:chOff x="0" y="0"/>
            <a:chExt cx="11625818" cy="152044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1625818" cy="1236269"/>
            </a:xfrm>
            <a:custGeom>
              <a:avLst/>
              <a:gdLst/>
              <a:ahLst/>
              <a:cxnLst/>
              <a:rect l="l" t="t" r="r" b="b"/>
              <a:pathLst>
                <a:path w="11625818" h="1236269">
                  <a:moveTo>
                    <a:pt x="0" y="0"/>
                  </a:moveTo>
                  <a:lnTo>
                    <a:pt x="11625818" y="0"/>
                  </a:lnTo>
                  <a:lnTo>
                    <a:pt x="11625818" y="1236269"/>
                  </a:lnTo>
                  <a:lnTo>
                    <a:pt x="0" y="123626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246076"/>
              <a:ext cx="11625818" cy="1274369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6750"/>
                </a:lnSpc>
              </a:pPr>
              <a:r>
                <a:rPr lang="en-US" sz="5400" b="1" dirty="0">
                  <a:latin typeface="Unna Bold"/>
                  <a:ea typeface="Unna Bold"/>
                  <a:cs typeface="Unna Bold"/>
                  <a:sym typeface="Unna Bold"/>
                </a:rPr>
                <a:t>CUSTOMER SIDE FEATURES</a:t>
              </a:r>
            </a:p>
          </p:txBody>
        </p:sp>
      </p:grpSp>
      <p:sp>
        <p:nvSpPr>
          <p:cNvPr id="5" name="Freeform 5" descr="preencoded.png"/>
          <p:cNvSpPr/>
          <p:nvPr/>
        </p:nvSpPr>
        <p:spPr>
          <a:xfrm>
            <a:off x="598586" y="2487811"/>
            <a:ext cx="427435" cy="427435"/>
          </a:xfrm>
          <a:custGeom>
            <a:avLst/>
            <a:gdLst/>
            <a:ahLst/>
            <a:cxnLst/>
            <a:rect l="l" t="t" r="r" b="b"/>
            <a:pathLst>
              <a:path w="427435" h="427435">
                <a:moveTo>
                  <a:pt x="0" y="0"/>
                </a:moveTo>
                <a:lnTo>
                  <a:pt x="427435" y="0"/>
                </a:lnTo>
                <a:lnTo>
                  <a:pt x="427435" y="427435"/>
                </a:lnTo>
                <a:lnTo>
                  <a:pt x="0" y="4274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grpSp>
        <p:nvGrpSpPr>
          <p:cNvPr id="6" name="Group 6"/>
          <p:cNvGrpSpPr/>
          <p:nvPr/>
        </p:nvGrpSpPr>
        <p:grpSpPr>
          <a:xfrm>
            <a:off x="598586" y="3086249"/>
            <a:ext cx="3423909" cy="401917"/>
            <a:chOff x="0" y="0"/>
            <a:chExt cx="4565212" cy="53588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565212" cy="535889"/>
            </a:xfrm>
            <a:custGeom>
              <a:avLst/>
              <a:gdLst/>
              <a:ahLst/>
              <a:cxnLst/>
              <a:rect l="l" t="t" r="r" b="b"/>
              <a:pathLst>
                <a:path w="4565212" h="535889">
                  <a:moveTo>
                    <a:pt x="0" y="0"/>
                  </a:moveTo>
                  <a:lnTo>
                    <a:pt x="4565212" y="0"/>
                  </a:lnTo>
                  <a:lnTo>
                    <a:pt x="4565212" y="535889"/>
                  </a:lnTo>
                  <a:lnTo>
                    <a:pt x="0" y="53588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9050"/>
              <a:ext cx="4565212" cy="554939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2937"/>
                </a:lnSpc>
              </a:pPr>
              <a:r>
                <a:rPr lang="en-US" sz="2349" dirty="0">
                  <a:latin typeface="Unna"/>
                  <a:ea typeface="Unna"/>
                  <a:cs typeface="Unna"/>
                  <a:sym typeface="Unna"/>
                </a:rPr>
                <a:t>Seamless User Journey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98586" y="3469332"/>
            <a:ext cx="5525989" cy="325663"/>
            <a:chOff x="0" y="0"/>
            <a:chExt cx="7367985" cy="434217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7367985" cy="434217"/>
            </a:xfrm>
            <a:custGeom>
              <a:avLst/>
              <a:gdLst/>
              <a:ahLst/>
              <a:cxnLst/>
              <a:rect l="l" t="t" r="r" b="b"/>
              <a:pathLst>
                <a:path w="7367985" h="434217">
                  <a:moveTo>
                    <a:pt x="0" y="0"/>
                  </a:moveTo>
                  <a:lnTo>
                    <a:pt x="7367985" y="0"/>
                  </a:lnTo>
                  <a:lnTo>
                    <a:pt x="7367985" y="434217"/>
                  </a:lnTo>
                  <a:lnTo>
                    <a:pt x="0" y="43421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85725"/>
              <a:ext cx="7367985" cy="519942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096"/>
                </a:lnSpc>
              </a:pPr>
              <a:r>
                <a:rPr lang="en-US" sz="1912" dirty="0">
                  <a:latin typeface="Unna"/>
                  <a:ea typeface="Unna"/>
                  <a:cs typeface="Unna"/>
                  <a:sym typeface="Unna"/>
                </a:rPr>
                <a:t>Register, Login, and Manage Profile</a:t>
              </a:r>
            </a:p>
          </p:txBody>
        </p:sp>
      </p:grpSp>
      <p:sp>
        <p:nvSpPr>
          <p:cNvPr id="12" name="Freeform 12" descr="preencoded.png"/>
          <p:cNvSpPr/>
          <p:nvPr/>
        </p:nvSpPr>
        <p:spPr>
          <a:xfrm>
            <a:off x="6381006" y="2487811"/>
            <a:ext cx="427435" cy="427435"/>
          </a:xfrm>
          <a:custGeom>
            <a:avLst/>
            <a:gdLst/>
            <a:ahLst/>
            <a:cxnLst/>
            <a:rect l="l" t="t" r="r" b="b"/>
            <a:pathLst>
              <a:path w="427435" h="427435">
                <a:moveTo>
                  <a:pt x="0" y="0"/>
                </a:moveTo>
                <a:lnTo>
                  <a:pt x="427435" y="0"/>
                </a:lnTo>
                <a:lnTo>
                  <a:pt x="427435" y="427435"/>
                </a:lnTo>
                <a:lnTo>
                  <a:pt x="0" y="42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grpSp>
        <p:nvGrpSpPr>
          <p:cNvPr id="13" name="Group 13"/>
          <p:cNvGrpSpPr/>
          <p:nvPr/>
        </p:nvGrpSpPr>
        <p:grpSpPr>
          <a:xfrm>
            <a:off x="6381006" y="3086249"/>
            <a:ext cx="3318589" cy="401917"/>
            <a:chOff x="0" y="0"/>
            <a:chExt cx="4424786" cy="535889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424786" cy="535889"/>
            </a:xfrm>
            <a:custGeom>
              <a:avLst/>
              <a:gdLst/>
              <a:ahLst/>
              <a:cxnLst/>
              <a:rect l="l" t="t" r="r" b="b"/>
              <a:pathLst>
                <a:path w="4424786" h="535889">
                  <a:moveTo>
                    <a:pt x="0" y="0"/>
                  </a:moveTo>
                  <a:lnTo>
                    <a:pt x="4424786" y="0"/>
                  </a:lnTo>
                  <a:lnTo>
                    <a:pt x="4424786" y="535889"/>
                  </a:lnTo>
                  <a:lnTo>
                    <a:pt x="0" y="53588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4424786" cy="554939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2937"/>
                </a:lnSpc>
              </a:pPr>
              <a:r>
                <a:rPr lang="en-US" sz="2349" dirty="0">
                  <a:latin typeface="Unna"/>
                  <a:ea typeface="Unna"/>
                  <a:cs typeface="Unna"/>
                  <a:sym typeface="Unna"/>
                </a:rPr>
                <a:t>Real-time Billing System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381006" y="3469332"/>
            <a:ext cx="5525989" cy="1106713"/>
            <a:chOff x="0" y="0"/>
            <a:chExt cx="7367985" cy="1475617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7367985" cy="1475617"/>
            </a:xfrm>
            <a:custGeom>
              <a:avLst/>
              <a:gdLst/>
              <a:ahLst/>
              <a:cxnLst/>
              <a:rect l="l" t="t" r="r" b="b"/>
              <a:pathLst>
                <a:path w="7367985" h="1475617">
                  <a:moveTo>
                    <a:pt x="0" y="0"/>
                  </a:moveTo>
                  <a:lnTo>
                    <a:pt x="7367985" y="0"/>
                  </a:lnTo>
                  <a:lnTo>
                    <a:pt x="7367985" y="1475617"/>
                  </a:lnTo>
                  <a:lnTo>
                    <a:pt x="0" y="147561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85725"/>
              <a:ext cx="7367985" cy="1561342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096"/>
                </a:lnSpc>
              </a:pPr>
              <a:r>
                <a:rPr lang="en-US" sz="1912" dirty="0">
                  <a:latin typeface="Unna"/>
                  <a:ea typeface="Unna"/>
                  <a:cs typeface="Unna"/>
                  <a:sym typeface="Unna"/>
                </a:rPr>
                <a:t>Auto-apply discounts, calculate taxes, redeem coupons &amp; smart coins Bills can be saved as a file or printed for future reference.</a:t>
              </a:r>
            </a:p>
          </p:txBody>
        </p:sp>
      </p:grpSp>
      <p:sp>
        <p:nvSpPr>
          <p:cNvPr id="19" name="Freeform 19" descr="preencoded.png"/>
          <p:cNvSpPr/>
          <p:nvPr/>
        </p:nvSpPr>
        <p:spPr>
          <a:xfrm>
            <a:off x="12163425" y="2487811"/>
            <a:ext cx="427435" cy="427435"/>
          </a:xfrm>
          <a:custGeom>
            <a:avLst/>
            <a:gdLst/>
            <a:ahLst/>
            <a:cxnLst/>
            <a:rect l="l" t="t" r="r" b="b"/>
            <a:pathLst>
              <a:path w="427435" h="427435">
                <a:moveTo>
                  <a:pt x="0" y="0"/>
                </a:moveTo>
                <a:lnTo>
                  <a:pt x="427435" y="0"/>
                </a:lnTo>
                <a:lnTo>
                  <a:pt x="427435" y="427435"/>
                </a:lnTo>
                <a:lnTo>
                  <a:pt x="0" y="42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grpSp>
        <p:nvGrpSpPr>
          <p:cNvPr id="20" name="Group 20"/>
          <p:cNvGrpSpPr/>
          <p:nvPr/>
        </p:nvGrpSpPr>
        <p:grpSpPr>
          <a:xfrm>
            <a:off x="12163425" y="3086249"/>
            <a:ext cx="2244775" cy="401917"/>
            <a:chOff x="0" y="0"/>
            <a:chExt cx="2993033" cy="535889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993033" cy="535889"/>
            </a:xfrm>
            <a:custGeom>
              <a:avLst/>
              <a:gdLst/>
              <a:ahLst/>
              <a:cxnLst/>
              <a:rect l="l" t="t" r="r" b="b"/>
              <a:pathLst>
                <a:path w="2993033" h="535889">
                  <a:moveTo>
                    <a:pt x="0" y="0"/>
                  </a:moveTo>
                  <a:lnTo>
                    <a:pt x="2993033" y="0"/>
                  </a:lnTo>
                  <a:lnTo>
                    <a:pt x="2993033" y="535889"/>
                  </a:lnTo>
                  <a:lnTo>
                    <a:pt x="0" y="53588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19050"/>
              <a:ext cx="2993033" cy="554939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2937"/>
                </a:lnSpc>
              </a:pPr>
              <a:r>
                <a:rPr lang="en-US" sz="2349" dirty="0">
                  <a:latin typeface="Unna"/>
                  <a:ea typeface="Unna"/>
                  <a:cs typeface="Unna"/>
                  <a:sym typeface="Unna"/>
                </a:rPr>
                <a:t>Spending Insights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2163425" y="3469332"/>
            <a:ext cx="5525989" cy="716188"/>
            <a:chOff x="0" y="0"/>
            <a:chExt cx="7367985" cy="954917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367985" cy="954917"/>
            </a:xfrm>
            <a:custGeom>
              <a:avLst/>
              <a:gdLst/>
              <a:ahLst/>
              <a:cxnLst/>
              <a:rect l="l" t="t" r="r" b="b"/>
              <a:pathLst>
                <a:path w="7367985" h="954917">
                  <a:moveTo>
                    <a:pt x="0" y="0"/>
                  </a:moveTo>
                  <a:lnTo>
                    <a:pt x="7367985" y="0"/>
                  </a:lnTo>
                  <a:lnTo>
                    <a:pt x="7367985" y="954917"/>
                  </a:lnTo>
                  <a:lnTo>
                    <a:pt x="0" y="95491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85725"/>
              <a:ext cx="7367985" cy="1040642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096"/>
                </a:lnSpc>
              </a:pPr>
              <a:r>
                <a:rPr lang="en-US" sz="1912" dirty="0">
                  <a:latin typeface="Unna"/>
                  <a:ea typeface="Unna"/>
                  <a:cs typeface="Unna"/>
                  <a:sym typeface="Unna"/>
                </a:rPr>
                <a:t>Monthly &amp; category-wise spending trends, top 5 purchased items</a:t>
              </a:r>
            </a:p>
          </p:txBody>
        </p:sp>
      </p:grpSp>
      <p:sp>
        <p:nvSpPr>
          <p:cNvPr id="26" name="Freeform 26" descr="preencoded.png"/>
          <p:cNvSpPr/>
          <p:nvPr/>
        </p:nvSpPr>
        <p:spPr>
          <a:xfrm>
            <a:off x="598586" y="5016699"/>
            <a:ext cx="427435" cy="427435"/>
          </a:xfrm>
          <a:custGeom>
            <a:avLst/>
            <a:gdLst/>
            <a:ahLst/>
            <a:cxnLst/>
            <a:rect l="l" t="t" r="r" b="b"/>
            <a:pathLst>
              <a:path w="427435" h="427435">
                <a:moveTo>
                  <a:pt x="0" y="0"/>
                </a:moveTo>
                <a:lnTo>
                  <a:pt x="427435" y="0"/>
                </a:lnTo>
                <a:lnTo>
                  <a:pt x="427435" y="427435"/>
                </a:lnTo>
                <a:lnTo>
                  <a:pt x="0" y="4274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grpSp>
        <p:nvGrpSpPr>
          <p:cNvPr id="27" name="Group 27"/>
          <p:cNvGrpSpPr/>
          <p:nvPr/>
        </p:nvGrpSpPr>
        <p:grpSpPr>
          <a:xfrm>
            <a:off x="598586" y="5615136"/>
            <a:ext cx="3423909" cy="401917"/>
            <a:chOff x="0" y="0"/>
            <a:chExt cx="4565212" cy="535889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565212" cy="535889"/>
            </a:xfrm>
            <a:custGeom>
              <a:avLst/>
              <a:gdLst/>
              <a:ahLst/>
              <a:cxnLst/>
              <a:rect l="l" t="t" r="r" b="b"/>
              <a:pathLst>
                <a:path w="4565212" h="535889">
                  <a:moveTo>
                    <a:pt x="0" y="0"/>
                  </a:moveTo>
                  <a:lnTo>
                    <a:pt x="4565212" y="0"/>
                  </a:lnTo>
                  <a:lnTo>
                    <a:pt x="4565212" y="535889"/>
                  </a:lnTo>
                  <a:lnTo>
                    <a:pt x="0" y="53588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19050"/>
              <a:ext cx="4565212" cy="554939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2937"/>
                </a:lnSpc>
              </a:pPr>
              <a:r>
                <a:rPr lang="en-US" sz="2349" dirty="0">
                  <a:latin typeface="Unna"/>
                  <a:ea typeface="Unna"/>
                  <a:cs typeface="Unna"/>
                  <a:sym typeface="Unna"/>
                </a:rPr>
                <a:t>View Offers &amp; Coupons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598586" y="5998220"/>
            <a:ext cx="5525989" cy="716188"/>
            <a:chOff x="0" y="0"/>
            <a:chExt cx="7367985" cy="954917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7367985" cy="954917"/>
            </a:xfrm>
            <a:custGeom>
              <a:avLst/>
              <a:gdLst/>
              <a:ahLst/>
              <a:cxnLst/>
              <a:rect l="l" t="t" r="r" b="b"/>
              <a:pathLst>
                <a:path w="7367985" h="954917">
                  <a:moveTo>
                    <a:pt x="0" y="0"/>
                  </a:moveTo>
                  <a:lnTo>
                    <a:pt x="7367985" y="0"/>
                  </a:lnTo>
                  <a:lnTo>
                    <a:pt x="7367985" y="954917"/>
                  </a:lnTo>
                  <a:lnTo>
                    <a:pt x="0" y="95491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85725"/>
              <a:ext cx="7367985" cy="1040642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096"/>
                </a:lnSpc>
              </a:pPr>
              <a:r>
                <a:rPr lang="en-US" sz="1912" dirty="0">
                  <a:latin typeface="Unna"/>
                  <a:ea typeface="Unna"/>
                  <a:cs typeface="Unna"/>
                  <a:sym typeface="Unna"/>
                </a:rPr>
                <a:t>Exclusive store discount Coupons and Buy X Get X Free deals.</a:t>
              </a:r>
            </a:p>
          </p:txBody>
        </p:sp>
      </p:grpSp>
      <p:sp>
        <p:nvSpPr>
          <p:cNvPr id="33" name="Freeform 33" descr="preencoded.png"/>
          <p:cNvSpPr/>
          <p:nvPr/>
        </p:nvSpPr>
        <p:spPr>
          <a:xfrm>
            <a:off x="6381006" y="5016699"/>
            <a:ext cx="427435" cy="427435"/>
          </a:xfrm>
          <a:custGeom>
            <a:avLst/>
            <a:gdLst/>
            <a:ahLst/>
            <a:cxnLst/>
            <a:rect l="l" t="t" r="r" b="b"/>
            <a:pathLst>
              <a:path w="427435" h="427435">
                <a:moveTo>
                  <a:pt x="0" y="0"/>
                </a:moveTo>
                <a:lnTo>
                  <a:pt x="427435" y="0"/>
                </a:lnTo>
                <a:lnTo>
                  <a:pt x="427435" y="427435"/>
                </a:lnTo>
                <a:lnTo>
                  <a:pt x="0" y="42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grpSp>
        <p:nvGrpSpPr>
          <p:cNvPr id="34" name="Group 34"/>
          <p:cNvGrpSpPr/>
          <p:nvPr/>
        </p:nvGrpSpPr>
        <p:grpSpPr>
          <a:xfrm>
            <a:off x="6381006" y="5615136"/>
            <a:ext cx="4762990" cy="401917"/>
            <a:chOff x="0" y="0"/>
            <a:chExt cx="6350653" cy="535889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350653" cy="535889"/>
            </a:xfrm>
            <a:custGeom>
              <a:avLst/>
              <a:gdLst/>
              <a:ahLst/>
              <a:cxnLst/>
              <a:rect l="l" t="t" r="r" b="b"/>
              <a:pathLst>
                <a:path w="6350653" h="535889">
                  <a:moveTo>
                    <a:pt x="0" y="0"/>
                  </a:moveTo>
                  <a:lnTo>
                    <a:pt x="6350653" y="0"/>
                  </a:lnTo>
                  <a:lnTo>
                    <a:pt x="6350653" y="535889"/>
                  </a:lnTo>
                  <a:lnTo>
                    <a:pt x="0" y="53588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19050"/>
              <a:ext cx="6350653" cy="554939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2937"/>
                </a:lnSpc>
              </a:pPr>
              <a:r>
                <a:rPr lang="en-US" sz="2349" dirty="0">
                  <a:latin typeface="Unna"/>
                  <a:ea typeface="Unna"/>
                  <a:cs typeface="Unna"/>
                  <a:sym typeface="Unna"/>
                </a:rPr>
                <a:t>Refund &amp; Replacement Process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381006" y="5998220"/>
            <a:ext cx="5525989" cy="325663"/>
            <a:chOff x="0" y="0"/>
            <a:chExt cx="7367985" cy="434217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7367985" cy="434217"/>
            </a:xfrm>
            <a:custGeom>
              <a:avLst/>
              <a:gdLst/>
              <a:ahLst/>
              <a:cxnLst/>
              <a:rect l="l" t="t" r="r" b="b"/>
              <a:pathLst>
                <a:path w="7367985" h="434217">
                  <a:moveTo>
                    <a:pt x="0" y="0"/>
                  </a:moveTo>
                  <a:lnTo>
                    <a:pt x="7367985" y="0"/>
                  </a:lnTo>
                  <a:lnTo>
                    <a:pt x="7367985" y="434217"/>
                  </a:lnTo>
                  <a:lnTo>
                    <a:pt x="0" y="43421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85725"/>
              <a:ext cx="7367985" cy="519942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096"/>
                </a:lnSpc>
              </a:pPr>
              <a:r>
                <a:rPr lang="en-US" sz="1912" dirty="0">
                  <a:latin typeface="Unna"/>
                  <a:ea typeface="Unna"/>
                  <a:cs typeface="Unna"/>
                  <a:sym typeface="Unna"/>
                </a:rPr>
                <a:t>Hassle-free 30 days returns and exchanges</a:t>
              </a:r>
            </a:p>
          </p:txBody>
        </p:sp>
      </p:grpSp>
      <p:sp>
        <p:nvSpPr>
          <p:cNvPr id="40" name="Freeform 40" descr="preencoded.png"/>
          <p:cNvSpPr/>
          <p:nvPr/>
        </p:nvSpPr>
        <p:spPr>
          <a:xfrm>
            <a:off x="12163425" y="5016699"/>
            <a:ext cx="427435" cy="427435"/>
          </a:xfrm>
          <a:custGeom>
            <a:avLst/>
            <a:gdLst/>
            <a:ahLst/>
            <a:cxnLst/>
            <a:rect l="l" t="t" r="r" b="b"/>
            <a:pathLst>
              <a:path w="427435" h="427435">
                <a:moveTo>
                  <a:pt x="0" y="0"/>
                </a:moveTo>
                <a:lnTo>
                  <a:pt x="427435" y="0"/>
                </a:lnTo>
                <a:lnTo>
                  <a:pt x="427435" y="427435"/>
                </a:lnTo>
                <a:lnTo>
                  <a:pt x="0" y="4274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grpSp>
        <p:nvGrpSpPr>
          <p:cNvPr id="41" name="Group 41"/>
          <p:cNvGrpSpPr/>
          <p:nvPr/>
        </p:nvGrpSpPr>
        <p:grpSpPr>
          <a:xfrm>
            <a:off x="12163425" y="5615136"/>
            <a:ext cx="3658480" cy="401917"/>
            <a:chOff x="0" y="0"/>
            <a:chExt cx="4877973" cy="53588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4877973" cy="535889"/>
            </a:xfrm>
            <a:custGeom>
              <a:avLst/>
              <a:gdLst/>
              <a:ahLst/>
              <a:cxnLst/>
              <a:rect l="l" t="t" r="r" b="b"/>
              <a:pathLst>
                <a:path w="4877973" h="535889">
                  <a:moveTo>
                    <a:pt x="0" y="0"/>
                  </a:moveTo>
                  <a:lnTo>
                    <a:pt x="4877973" y="0"/>
                  </a:lnTo>
                  <a:lnTo>
                    <a:pt x="4877973" y="535889"/>
                  </a:lnTo>
                  <a:lnTo>
                    <a:pt x="0" y="53588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19050"/>
              <a:ext cx="4877973" cy="554939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2937"/>
                </a:lnSpc>
              </a:pPr>
              <a:r>
                <a:rPr lang="en-US" sz="2349" dirty="0">
                  <a:latin typeface="Unna"/>
                  <a:ea typeface="Unna"/>
                  <a:cs typeface="Unna"/>
                  <a:sym typeface="Unna"/>
                </a:rPr>
                <a:t>Smart Shopping Assistant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2163425" y="5998220"/>
            <a:ext cx="5525989" cy="716188"/>
            <a:chOff x="0" y="0"/>
            <a:chExt cx="7367985" cy="954917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7367985" cy="954917"/>
            </a:xfrm>
            <a:custGeom>
              <a:avLst/>
              <a:gdLst/>
              <a:ahLst/>
              <a:cxnLst/>
              <a:rect l="l" t="t" r="r" b="b"/>
              <a:pathLst>
                <a:path w="7367985" h="954917">
                  <a:moveTo>
                    <a:pt x="0" y="0"/>
                  </a:moveTo>
                  <a:lnTo>
                    <a:pt x="7367985" y="0"/>
                  </a:lnTo>
                  <a:lnTo>
                    <a:pt x="7367985" y="954917"/>
                  </a:lnTo>
                  <a:lnTo>
                    <a:pt x="0" y="95491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85725"/>
              <a:ext cx="7367985" cy="1040642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096"/>
                </a:lnSpc>
              </a:pPr>
              <a:r>
                <a:rPr lang="en-US" sz="1912" dirty="0">
                  <a:latin typeface="Unna"/>
                  <a:ea typeface="Unna"/>
                  <a:cs typeface="Unna"/>
                  <a:sym typeface="Unna"/>
                </a:rPr>
                <a:t>Personalized suggestions based on recipes, travel essentials, and home needs</a:t>
              </a:r>
            </a:p>
          </p:txBody>
        </p:sp>
      </p:grpSp>
      <p:sp>
        <p:nvSpPr>
          <p:cNvPr id="47" name="Freeform 47" descr="preencoded.png"/>
          <p:cNvSpPr/>
          <p:nvPr/>
        </p:nvSpPr>
        <p:spPr>
          <a:xfrm>
            <a:off x="598586" y="7064045"/>
            <a:ext cx="427435" cy="427435"/>
          </a:xfrm>
          <a:custGeom>
            <a:avLst/>
            <a:gdLst/>
            <a:ahLst/>
            <a:cxnLst/>
            <a:rect l="l" t="t" r="r" b="b"/>
            <a:pathLst>
              <a:path w="427435" h="427435">
                <a:moveTo>
                  <a:pt x="0" y="0"/>
                </a:moveTo>
                <a:lnTo>
                  <a:pt x="427435" y="0"/>
                </a:lnTo>
                <a:lnTo>
                  <a:pt x="427435" y="427435"/>
                </a:lnTo>
                <a:lnTo>
                  <a:pt x="0" y="42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grpSp>
        <p:nvGrpSpPr>
          <p:cNvPr id="48" name="Group 48"/>
          <p:cNvGrpSpPr/>
          <p:nvPr/>
        </p:nvGrpSpPr>
        <p:grpSpPr>
          <a:xfrm>
            <a:off x="598586" y="7662484"/>
            <a:ext cx="4248323" cy="401917"/>
            <a:chOff x="0" y="0"/>
            <a:chExt cx="5664431" cy="535889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5664430" cy="535889"/>
            </a:xfrm>
            <a:custGeom>
              <a:avLst/>
              <a:gdLst/>
              <a:ahLst/>
              <a:cxnLst/>
              <a:rect l="l" t="t" r="r" b="b"/>
              <a:pathLst>
                <a:path w="5664430" h="535889">
                  <a:moveTo>
                    <a:pt x="0" y="0"/>
                  </a:moveTo>
                  <a:lnTo>
                    <a:pt x="5664430" y="0"/>
                  </a:lnTo>
                  <a:lnTo>
                    <a:pt x="5664430" y="535889"/>
                  </a:lnTo>
                  <a:lnTo>
                    <a:pt x="0" y="53588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0" y="-19050"/>
              <a:ext cx="5664431" cy="554939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2937"/>
                </a:lnSpc>
              </a:pPr>
              <a:r>
                <a:rPr lang="en-US" sz="2349" dirty="0">
                  <a:latin typeface="Unna"/>
                  <a:ea typeface="Unna"/>
                  <a:cs typeface="Unna"/>
                  <a:sym typeface="Unna"/>
                </a:rPr>
                <a:t>Loyalty &amp; Reward System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598586" y="8045568"/>
            <a:ext cx="5525989" cy="716188"/>
            <a:chOff x="0" y="0"/>
            <a:chExt cx="7367985" cy="954917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7367985" cy="954917"/>
            </a:xfrm>
            <a:custGeom>
              <a:avLst/>
              <a:gdLst/>
              <a:ahLst/>
              <a:cxnLst/>
              <a:rect l="l" t="t" r="r" b="b"/>
              <a:pathLst>
                <a:path w="7367985" h="954917">
                  <a:moveTo>
                    <a:pt x="0" y="0"/>
                  </a:moveTo>
                  <a:lnTo>
                    <a:pt x="7367985" y="0"/>
                  </a:lnTo>
                  <a:lnTo>
                    <a:pt x="7367985" y="954917"/>
                  </a:lnTo>
                  <a:lnTo>
                    <a:pt x="0" y="95491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0" y="-85725"/>
              <a:ext cx="7367985" cy="1040642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096"/>
                </a:lnSpc>
              </a:pPr>
              <a:r>
                <a:rPr lang="en-US" sz="1912" dirty="0">
                  <a:latin typeface="Unna"/>
                  <a:ea typeface="Unna"/>
                  <a:cs typeface="Unna"/>
                  <a:sym typeface="Unna"/>
                </a:rPr>
                <a:t>Smart Coins redemption and Generation basis on 2% of Bill Amount</a:t>
              </a:r>
            </a:p>
          </p:txBody>
        </p:sp>
      </p:grpSp>
      <p:sp>
        <p:nvSpPr>
          <p:cNvPr id="54" name="Freeform 54" descr="preencoded.png"/>
          <p:cNvSpPr/>
          <p:nvPr/>
        </p:nvSpPr>
        <p:spPr>
          <a:xfrm>
            <a:off x="6381006" y="7064045"/>
            <a:ext cx="427435" cy="427435"/>
          </a:xfrm>
          <a:custGeom>
            <a:avLst/>
            <a:gdLst/>
            <a:ahLst/>
            <a:cxnLst/>
            <a:rect l="l" t="t" r="r" b="b"/>
            <a:pathLst>
              <a:path w="427435" h="427435">
                <a:moveTo>
                  <a:pt x="0" y="0"/>
                </a:moveTo>
                <a:lnTo>
                  <a:pt x="427435" y="0"/>
                </a:lnTo>
                <a:lnTo>
                  <a:pt x="427435" y="427435"/>
                </a:lnTo>
                <a:lnTo>
                  <a:pt x="0" y="42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grpSp>
        <p:nvGrpSpPr>
          <p:cNvPr id="55" name="Group 55"/>
          <p:cNvGrpSpPr/>
          <p:nvPr/>
        </p:nvGrpSpPr>
        <p:grpSpPr>
          <a:xfrm>
            <a:off x="6381006" y="7662484"/>
            <a:ext cx="2244775" cy="401917"/>
            <a:chOff x="0" y="0"/>
            <a:chExt cx="2993033" cy="535889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2993033" cy="535889"/>
            </a:xfrm>
            <a:custGeom>
              <a:avLst/>
              <a:gdLst/>
              <a:ahLst/>
              <a:cxnLst/>
              <a:rect l="l" t="t" r="r" b="b"/>
              <a:pathLst>
                <a:path w="2993033" h="535889">
                  <a:moveTo>
                    <a:pt x="0" y="0"/>
                  </a:moveTo>
                  <a:lnTo>
                    <a:pt x="2993033" y="0"/>
                  </a:lnTo>
                  <a:lnTo>
                    <a:pt x="2993033" y="535889"/>
                  </a:lnTo>
                  <a:lnTo>
                    <a:pt x="0" y="53588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0" y="-19050"/>
              <a:ext cx="2993033" cy="554939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2937"/>
                </a:lnSpc>
              </a:pPr>
              <a:r>
                <a:rPr lang="en-US" sz="2349" dirty="0">
                  <a:latin typeface="Unna"/>
                  <a:ea typeface="Unna"/>
                  <a:cs typeface="Unna"/>
                  <a:sym typeface="Unna"/>
                </a:rPr>
                <a:t>Past Bills Record 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6381006" y="8045568"/>
            <a:ext cx="5525989" cy="1106713"/>
            <a:chOff x="0" y="0"/>
            <a:chExt cx="7367985" cy="1475617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7367985" cy="1475617"/>
            </a:xfrm>
            <a:custGeom>
              <a:avLst/>
              <a:gdLst/>
              <a:ahLst/>
              <a:cxnLst/>
              <a:rect l="l" t="t" r="r" b="b"/>
              <a:pathLst>
                <a:path w="7367985" h="1475617">
                  <a:moveTo>
                    <a:pt x="0" y="0"/>
                  </a:moveTo>
                  <a:lnTo>
                    <a:pt x="7367985" y="0"/>
                  </a:lnTo>
                  <a:lnTo>
                    <a:pt x="7367985" y="1475617"/>
                  </a:lnTo>
                  <a:lnTo>
                    <a:pt x="0" y="147561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-85725"/>
              <a:ext cx="7367985" cy="1561342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096"/>
                </a:lnSpc>
              </a:pPr>
              <a:r>
                <a:rPr lang="en-US" sz="1912" dirty="0">
                  <a:latin typeface="Unna"/>
                  <a:ea typeface="Unna"/>
                  <a:cs typeface="Unna"/>
                  <a:sym typeface="Unna"/>
                </a:rPr>
                <a:t>Customers can access their previous Bills, including itemized details, discounts applied, and Total Bill Amount.</a:t>
              </a:r>
            </a:p>
          </p:txBody>
        </p:sp>
      </p:grpSp>
      <p:sp>
        <p:nvSpPr>
          <p:cNvPr id="61" name="Freeform 61" descr="preencoded.png"/>
          <p:cNvSpPr/>
          <p:nvPr/>
        </p:nvSpPr>
        <p:spPr>
          <a:xfrm>
            <a:off x="12163425" y="7064045"/>
            <a:ext cx="427435" cy="427435"/>
          </a:xfrm>
          <a:custGeom>
            <a:avLst/>
            <a:gdLst/>
            <a:ahLst/>
            <a:cxnLst/>
            <a:rect l="l" t="t" r="r" b="b"/>
            <a:pathLst>
              <a:path w="427435" h="427435">
                <a:moveTo>
                  <a:pt x="0" y="0"/>
                </a:moveTo>
                <a:lnTo>
                  <a:pt x="427435" y="0"/>
                </a:lnTo>
                <a:lnTo>
                  <a:pt x="427435" y="427435"/>
                </a:lnTo>
                <a:lnTo>
                  <a:pt x="0" y="4274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grpSp>
        <p:nvGrpSpPr>
          <p:cNvPr id="62" name="Group 62"/>
          <p:cNvGrpSpPr/>
          <p:nvPr/>
        </p:nvGrpSpPr>
        <p:grpSpPr>
          <a:xfrm>
            <a:off x="12163425" y="7662484"/>
            <a:ext cx="4355597" cy="401917"/>
            <a:chOff x="0" y="0"/>
            <a:chExt cx="5807462" cy="535889"/>
          </a:xfrm>
        </p:grpSpPr>
        <p:sp>
          <p:nvSpPr>
            <p:cNvPr id="63" name="Freeform 63"/>
            <p:cNvSpPr/>
            <p:nvPr/>
          </p:nvSpPr>
          <p:spPr>
            <a:xfrm>
              <a:off x="0" y="0"/>
              <a:ext cx="5807462" cy="535889"/>
            </a:xfrm>
            <a:custGeom>
              <a:avLst/>
              <a:gdLst/>
              <a:ahLst/>
              <a:cxnLst/>
              <a:rect l="l" t="t" r="r" b="b"/>
              <a:pathLst>
                <a:path w="5807462" h="535889">
                  <a:moveTo>
                    <a:pt x="0" y="0"/>
                  </a:moveTo>
                  <a:lnTo>
                    <a:pt x="5807462" y="0"/>
                  </a:lnTo>
                  <a:lnTo>
                    <a:pt x="5807462" y="535889"/>
                  </a:lnTo>
                  <a:lnTo>
                    <a:pt x="0" y="53588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0" y="-19050"/>
              <a:ext cx="5807462" cy="554939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2937"/>
                </a:lnSpc>
              </a:pPr>
              <a:r>
                <a:rPr lang="en-US" sz="2349" dirty="0">
                  <a:latin typeface="Unna"/>
                  <a:ea typeface="Unna"/>
                  <a:cs typeface="Unna"/>
                  <a:sym typeface="Unna"/>
                </a:rPr>
                <a:t>View Available Products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12163425" y="8045568"/>
            <a:ext cx="5525989" cy="1497238"/>
            <a:chOff x="0" y="0"/>
            <a:chExt cx="7367985" cy="1996317"/>
          </a:xfrm>
        </p:grpSpPr>
        <p:sp>
          <p:nvSpPr>
            <p:cNvPr id="66" name="Freeform 66"/>
            <p:cNvSpPr/>
            <p:nvPr/>
          </p:nvSpPr>
          <p:spPr>
            <a:xfrm>
              <a:off x="0" y="0"/>
              <a:ext cx="7367985" cy="1996317"/>
            </a:xfrm>
            <a:custGeom>
              <a:avLst/>
              <a:gdLst/>
              <a:ahLst/>
              <a:cxnLst/>
              <a:rect l="l" t="t" r="r" b="b"/>
              <a:pathLst>
                <a:path w="7367985" h="1996317">
                  <a:moveTo>
                    <a:pt x="0" y="0"/>
                  </a:moveTo>
                  <a:lnTo>
                    <a:pt x="7367985" y="0"/>
                  </a:lnTo>
                  <a:lnTo>
                    <a:pt x="7367985" y="1996317"/>
                  </a:lnTo>
                  <a:lnTo>
                    <a:pt x="0" y="199631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0" y="-85725"/>
              <a:ext cx="7367985" cy="2082042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096"/>
                </a:lnSpc>
              </a:pPr>
              <a:r>
                <a:rPr lang="en-US" sz="1912" dirty="0">
                  <a:latin typeface="Unna"/>
                  <a:ea typeface="Unna"/>
                  <a:cs typeface="Unna"/>
                  <a:sym typeface="Unna"/>
                </a:rPr>
                <a:t>Customers can browse through all available items in the store.</a:t>
              </a:r>
            </a:p>
            <a:p>
              <a:pPr algn="l">
                <a:lnSpc>
                  <a:spcPts val="3096"/>
                </a:lnSpc>
              </a:pPr>
              <a:r>
                <a:rPr lang="en-US" sz="1912" dirty="0">
                  <a:latin typeface="Unna"/>
                  <a:ea typeface="Unna"/>
                  <a:cs typeface="Unna"/>
                  <a:sym typeface="Unna"/>
                </a:rPr>
                <a:t>Customized Search based on Categories, Product name with Available Stock</a:t>
              </a:r>
            </a:p>
          </p:txBody>
        </p:sp>
      </p:grpSp>
      <p:pic>
        <p:nvPicPr>
          <p:cNvPr id="68" name="Picture 67">
            <a:extLst>
              <a:ext uri="{FF2B5EF4-FFF2-40B4-BE49-F238E27FC236}">
                <a16:creationId xmlns:a16="http://schemas.microsoft.com/office/drawing/2014/main" id="{722220D6-B05F-9DBF-F402-4A3E34F31452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37" y="103519"/>
            <a:ext cx="1112268" cy="1164566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B77EB8FD-7F39-CD26-C760-D781B1EFFE62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91" t="16832" b="13861"/>
          <a:stretch/>
        </p:blipFill>
        <p:spPr>
          <a:xfrm>
            <a:off x="13427247" y="1"/>
            <a:ext cx="4728777" cy="90577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56895" y="852220"/>
            <a:ext cx="10870342" cy="1395512"/>
            <a:chOff x="-246473" y="0"/>
            <a:chExt cx="14493789" cy="186068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247316" cy="1230943"/>
            </a:xfrm>
            <a:custGeom>
              <a:avLst/>
              <a:gdLst/>
              <a:ahLst/>
              <a:cxnLst/>
              <a:rect l="l" t="t" r="r" b="b"/>
              <a:pathLst>
                <a:path w="14247316" h="1230943">
                  <a:moveTo>
                    <a:pt x="0" y="0"/>
                  </a:moveTo>
                  <a:lnTo>
                    <a:pt x="14247316" y="0"/>
                  </a:lnTo>
                  <a:lnTo>
                    <a:pt x="14247316" y="1230943"/>
                  </a:lnTo>
                  <a:lnTo>
                    <a:pt x="0" y="123094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-246473" y="591640"/>
              <a:ext cx="14247316" cy="1269043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6706"/>
                </a:lnSpc>
              </a:pPr>
              <a:r>
                <a:rPr lang="en-US" sz="5400" b="1" dirty="0">
                  <a:latin typeface="Unna Bold"/>
                  <a:ea typeface="Unna Bold"/>
                  <a:cs typeface="Unna Bold"/>
                  <a:sym typeface="Unna Bold"/>
                </a:rPr>
                <a:t>STORE MANAGER SIDE FEATURES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448305" y="2568544"/>
            <a:ext cx="3414287" cy="410540"/>
            <a:chOff x="0" y="0"/>
            <a:chExt cx="4552383" cy="547386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552383" cy="547386"/>
            </a:xfrm>
            <a:custGeom>
              <a:avLst/>
              <a:gdLst/>
              <a:ahLst/>
              <a:cxnLst/>
              <a:rect l="l" t="t" r="r" b="b"/>
              <a:pathLst>
                <a:path w="4552383" h="547386">
                  <a:moveTo>
                    <a:pt x="0" y="0"/>
                  </a:moveTo>
                  <a:lnTo>
                    <a:pt x="4552383" y="0"/>
                  </a:lnTo>
                  <a:lnTo>
                    <a:pt x="4552383" y="547386"/>
                  </a:lnTo>
                  <a:lnTo>
                    <a:pt x="0" y="54738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4552383" cy="556911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2987"/>
                </a:lnSpc>
              </a:pPr>
              <a:r>
                <a:rPr lang="en-US" sz="2437" dirty="0">
                  <a:latin typeface="Unna"/>
                  <a:ea typeface="Unna"/>
                  <a:cs typeface="Unna"/>
                  <a:sym typeface="Unna"/>
                </a:rPr>
                <a:t>Inventory Management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448305" y="3063844"/>
            <a:ext cx="3900339" cy="717887"/>
            <a:chOff x="0" y="0"/>
            <a:chExt cx="5200452" cy="95718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200452" cy="957183"/>
            </a:xfrm>
            <a:custGeom>
              <a:avLst/>
              <a:gdLst/>
              <a:ahLst/>
              <a:cxnLst/>
              <a:rect l="l" t="t" r="r" b="b"/>
              <a:pathLst>
                <a:path w="5200452" h="957183">
                  <a:moveTo>
                    <a:pt x="0" y="0"/>
                  </a:moveTo>
                  <a:lnTo>
                    <a:pt x="5200452" y="0"/>
                  </a:lnTo>
                  <a:lnTo>
                    <a:pt x="5200452" y="957183"/>
                  </a:lnTo>
                  <a:lnTo>
                    <a:pt x="0" y="95718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85725"/>
              <a:ext cx="5200452" cy="1042908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116"/>
                </a:lnSpc>
              </a:pPr>
              <a:r>
                <a:rPr lang="en-US" sz="1937" dirty="0">
                  <a:latin typeface="Unna"/>
                  <a:ea typeface="Unna"/>
                  <a:cs typeface="Unna"/>
                  <a:sym typeface="Unna"/>
                </a:rPr>
                <a:t>Real-time tracking of stock levels and  Products at Sore.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4905246" y="2498930"/>
            <a:ext cx="2462659" cy="410540"/>
            <a:chOff x="0" y="0"/>
            <a:chExt cx="3283545" cy="54738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3283545" cy="547386"/>
            </a:xfrm>
            <a:custGeom>
              <a:avLst/>
              <a:gdLst/>
              <a:ahLst/>
              <a:cxnLst/>
              <a:rect l="l" t="t" r="r" b="b"/>
              <a:pathLst>
                <a:path w="3283545" h="547386">
                  <a:moveTo>
                    <a:pt x="0" y="0"/>
                  </a:moveTo>
                  <a:lnTo>
                    <a:pt x="3283545" y="0"/>
                  </a:lnTo>
                  <a:lnTo>
                    <a:pt x="3283545" y="547386"/>
                  </a:lnTo>
                  <a:lnTo>
                    <a:pt x="0" y="54738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9525"/>
              <a:ext cx="3283545" cy="556911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2987"/>
                </a:lnSpc>
              </a:pPr>
              <a:r>
                <a:rPr lang="en-US" sz="2437" dirty="0">
                  <a:latin typeface="Unna"/>
                  <a:ea typeface="Unna"/>
                  <a:cs typeface="Unna"/>
                  <a:sym typeface="Unna"/>
                </a:rPr>
                <a:t>Sales Analytics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815963" y="2994230"/>
            <a:ext cx="3900339" cy="327362"/>
            <a:chOff x="0" y="0"/>
            <a:chExt cx="5200452" cy="4364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200452" cy="436483"/>
            </a:xfrm>
            <a:custGeom>
              <a:avLst/>
              <a:gdLst/>
              <a:ahLst/>
              <a:cxnLst/>
              <a:rect l="l" t="t" r="r" b="b"/>
              <a:pathLst>
                <a:path w="5200452" h="436483">
                  <a:moveTo>
                    <a:pt x="0" y="0"/>
                  </a:moveTo>
                  <a:lnTo>
                    <a:pt x="5200452" y="0"/>
                  </a:lnTo>
                  <a:lnTo>
                    <a:pt x="5200452" y="436483"/>
                  </a:lnTo>
                  <a:lnTo>
                    <a:pt x="0" y="43648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85725"/>
              <a:ext cx="5200452" cy="522208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marL="292198" lvl="1" indent="-146099" algn="l">
                <a:lnSpc>
                  <a:spcPts val="3116"/>
                </a:lnSpc>
                <a:buFont typeface="Arial"/>
                <a:buChar char="•"/>
              </a:pPr>
              <a:r>
                <a:rPr lang="en-US" sz="1937" dirty="0">
                  <a:latin typeface="Unna"/>
                  <a:ea typeface="Unna"/>
                  <a:cs typeface="Unna"/>
                  <a:sym typeface="Unna"/>
                </a:rPr>
                <a:t>Daily Sales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4815963" y="3360050"/>
            <a:ext cx="3900339" cy="327362"/>
            <a:chOff x="0" y="0"/>
            <a:chExt cx="5200452" cy="436483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5200452" cy="436483"/>
            </a:xfrm>
            <a:custGeom>
              <a:avLst/>
              <a:gdLst/>
              <a:ahLst/>
              <a:cxnLst/>
              <a:rect l="l" t="t" r="r" b="b"/>
              <a:pathLst>
                <a:path w="5200452" h="436483">
                  <a:moveTo>
                    <a:pt x="0" y="0"/>
                  </a:moveTo>
                  <a:lnTo>
                    <a:pt x="5200452" y="0"/>
                  </a:lnTo>
                  <a:lnTo>
                    <a:pt x="5200452" y="436483"/>
                  </a:lnTo>
                  <a:lnTo>
                    <a:pt x="0" y="43648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85725"/>
              <a:ext cx="5200452" cy="522208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marL="292198" lvl="1" indent="-146099" algn="l">
                <a:lnSpc>
                  <a:spcPts val="3116"/>
                </a:lnSpc>
                <a:buFont typeface="Arial"/>
                <a:buChar char="•"/>
              </a:pPr>
              <a:r>
                <a:rPr lang="en-US" sz="1937" dirty="0">
                  <a:latin typeface="Unna"/>
                  <a:ea typeface="Unna"/>
                  <a:cs typeface="Unna"/>
                  <a:sym typeface="Unna"/>
                </a:rPr>
                <a:t>Monthly Sales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4815963" y="3725869"/>
            <a:ext cx="3900339" cy="327362"/>
            <a:chOff x="0" y="0"/>
            <a:chExt cx="5200452" cy="43648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200452" cy="436483"/>
            </a:xfrm>
            <a:custGeom>
              <a:avLst/>
              <a:gdLst/>
              <a:ahLst/>
              <a:cxnLst/>
              <a:rect l="l" t="t" r="r" b="b"/>
              <a:pathLst>
                <a:path w="5200452" h="436483">
                  <a:moveTo>
                    <a:pt x="0" y="0"/>
                  </a:moveTo>
                  <a:lnTo>
                    <a:pt x="5200452" y="0"/>
                  </a:lnTo>
                  <a:lnTo>
                    <a:pt x="5200452" y="436483"/>
                  </a:lnTo>
                  <a:lnTo>
                    <a:pt x="0" y="43648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85725"/>
              <a:ext cx="5200452" cy="522208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marL="292198" lvl="1" indent="-146099" algn="l">
                <a:lnSpc>
                  <a:spcPts val="3116"/>
                </a:lnSpc>
                <a:buFont typeface="Arial"/>
                <a:buChar char="•"/>
              </a:pPr>
              <a:r>
                <a:rPr lang="en-US" sz="1937" dirty="0">
                  <a:latin typeface="Unna"/>
                  <a:ea typeface="Unna"/>
                  <a:cs typeface="Unna"/>
                  <a:sym typeface="Unna"/>
                </a:rPr>
                <a:t>Yearly Sales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8086844" y="2498930"/>
            <a:ext cx="3055539" cy="410540"/>
            <a:chOff x="0" y="0"/>
            <a:chExt cx="4074053" cy="547386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4074052" cy="547386"/>
            </a:xfrm>
            <a:custGeom>
              <a:avLst/>
              <a:gdLst/>
              <a:ahLst/>
              <a:cxnLst/>
              <a:rect l="l" t="t" r="r" b="b"/>
              <a:pathLst>
                <a:path w="4074052" h="547386">
                  <a:moveTo>
                    <a:pt x="0" y="0"/>
                  </a:moveTo>
                  <a:lnTo>
                    <a:pt x="4074052" y="0"/>
                  </a:lnTo>
                  <a:lnTo>
                    <a:pt x="4074052" y="547386"/>
                  </a:lnTo>
                  <a:lnTo>
                    <a:pt x="0" y="54738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9525"/>
              <a:ext cx="4074053" cy="556911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2987"/>
                </a:lnSpc>
              </a:pPr>
              <a:r>
                <a:rPr lang="en-US" sz="2437" dirty="0">
                  <a:latin typeface="Unna"/>
                  <a:ea typeface="Unna"/>
                  <a:cs typeface="Unna"/>
                  <a:sym typeface="Unna"/>
                </a:rPr>
                <a:t>Promotional Campaigns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8086844" y="2994230"/>
            <a:ext cx="3900339" cy="1108412"/>
            <a:chOff x="0" y="0"/>
            <a:chExt cx="5200452" cy="1477883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5200452" cy="1477883"/>
            </a:xfrm>
            <a:custGeom>
              <a:avLst/>
              <a:gdLst/>
              <a:ahLst/>
              <a:cxnLst/>
              <a:rect l="l" t="t" r="r" b="b"/>
              <a:pathLst>
                <a:path w="5200452" h="1477883">
                  <a:moveTo>
                    <a:pt x="0" y="0"/>
                  </a:moveTo>
                  <a:lnTo>
                    <a:pt x="5200452" y="0"/>
                  </a:lnTo>
                  <a:lnTo>
                    <a:pt x="5200452" y="1477883"/>
                  </a:lnTo>
                  <a:lnTo>
                    <a:pt x="0" y="147788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85725"/>
              <a:ext cx="5200452" cy="1563608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116"/>
                </a:lnSpc>
              </a:pPr>
              <a:r>
                <a:rPr lang="en-US" sz="1937" dirty="0">
                  <a:latin typeface="Unna"/>
                  <a:ea typeface="Unna"/>
                  <a:cs typeface="Unna"/>
                  <a:sym typeface="Unna"/>
                </a:rPr>
                <a:t>Send personalized Discount &amp; Offers Text Messages to Customer's Mobile Number From Customer Data 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2939683" y="2498930"/>
            <a:ext cx="3438589" cy="410540"/>
            <a:chOff x="0" y="0"/>
            <a:chExt cx="4584785" cy="547386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4584785" cy="547386"/>
            </a:xfrm>
            <a:custGeom>
              <a:avLst/>
              <a:gdLst/>
              <a:ahLst/>
              <a:cxnLst/>
              <a:rect l="l" t="t" r="r" b="b"/>
              <a:pathLst>
                <a:path w="4584785" h="547386">
                  <a:moveTo>
                    <a:pt x="0" y="0"/>
                  </a:moveTo>
                  <a:lnTo>
                    <a:pt x="4584785" y="0"/>
                  </a:lnTo>
                  <a:lnTo>
                    <a:pt x="4584785" y="547386"/>
                  </a:lnTo>
                  <a:lnTo>
                    <a:pt x="0" y="54738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9525"/>
              <a:ext cx="4584785" cy="556911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2987"/>
                </a:lnSpc>
              </a:pPr>
              <a:r>
                <a:rPr lang="en-US" sz="2437" dirty="0">
                  <a:latin typeface="Unna"/>
                  <a:ea typeface="Unna"/>
                  <a:cs typeface="Unna"/>
                  <a:sym typeface="Unna"/>
                </a:rPr>
                <a:t>Product Returns Tracking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2939683" y="2994230"/>
            <a:ext cx="3900339" cy="327362"/>
            <a:chOff x="0" y="0"/>
            <a:chExt cx="5200452" cy="436483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5200452" cy="436483"/>
            </a:xfrm>
            <a:custGeom>
              <a:avLst/>
              <a:gdLst/>
              <a:ahLst/>
              <a:cxnLst/>
              <a:rect l="l" t="t" r="r" b="b"/>
              <a:pathLst>
                <a:path w="5200452" h="436483">
                  <a:moveTo>
                    <a:pt x="0" y="0"/>
                  </a:moveTo>
                  <a:lnTo>
                    <a:pt x="5200452" y="0"/>
                  </a:lnTo>
                  <a:lnTo>
                    <a:pt x="5200452" y="436483"/>
                  </a:lnTo>
                  <a:lnTo>
                    <a:pt x="0" y="43648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85725"/>
              <a:ext cx="5200452" cy="522208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116"/>
                </a:lnSpc>
              </a:pPr>
              <a:r>
                <a:rPr lang="en-US" sz="1937" dirty="0">
                  <a:latin typeface="Unna"/>
                  <a:ea typeface="Unna"/>
                  <a:cs typeface="Unna"/>
                  <a:sym typeface="Unna"/>
                </a:rPr>
                <a:t>Manage product returns efficiently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448305" y="4630259"/>
            <a:ext cx="3010867" cy="410540"/>
            <a:chOff x="0" y="0"/>
            <a:chExt cx="4014489" cy="547386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4014489" cy="547386"/>
            </a:xfrm>
            <a:custGeom>
              <a:avLst/>
              <a:gdLst/>
              <a:ahLst/>
              <a:cxnLst/>
              <a:rect l="l" t="t" r="r" b="b"/>
              <a:pathLst>
                <a:path w="4014489" h="547386">
                  <a:moveTo>
                    <a:pt x="0" y="0"/>
                  </a:moveTo>
                  <a:lnTo>
                    <a:pt x="4014489" y="0"/>
                  </a:lnTo>
                  <a:lnTo>
                    <a:pt x="4014489" y="547386"/>
                  </a:lnTo>
                  <a:lnTo>
                    <a:pt x="0" y="54738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9525"/>
              <a:ext cx="4014489" cy="556911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2987"/>
                </a:lnSpc>
              </a:pPr>
              <a:r>
                <a:rPr lang="en-US" sz="2437" dirty="0">
                  <a:latin typeface="Unna"/>
                  <a:ea typeface="Unna"/>
                  <a:cs typeface="Unna"/>
                  <a:sym typeface="Unna"/>
                </a:rPr>
                <a:t>Discount Management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448305" y="5191596"/>
            <a:ext cx="7215931" cy="327362"/>
            <a:chOff x="0" y="0"/>
            <a:chExt cx="9621242" cy="436483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9621241" cy="436483"/>
            </a:xfrm>
            <a:custGeom>
              <a:avLst/>
              <a:gdLst/>
              <a:ahLst/>
              <a:cxnLst/>
              <a:rect l="l" t="t" r="r" b="b"/>
              <a:pathLst>
                <a:path w="9621241" h="436483">
                  <a:moveTo>
                    <a:pt x="0" y="0"/>
                  </a:moveTo>
                  <a:lnTo>
                    <a:pt x="9621241" y="0"/>
                  </a:lnTo>
                  <a:lnTo>
                    <a:pt x="9621241" y="436483"/>
                  </a:lnTo>
                  <a:lnTo>
                    <a:pt x="0" y="43648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85725"/>
              <a:ext cx="9621242" cy="522208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116"/>
                </a:lnSpc>
              </a:pPr>
              <a:r>
                <a:rPr lang="en-US" sz="1937" dirty="0">
                  <a:latin typeface="Unna"/>
                  <a:ea typeface="Unna"/>
                  <a:cs typeface="Unna"/>
                  <a:sym typeface="Unna"/>
                </a:rPr>
                <a:t>Define and manage storewide discount coupons and Offers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7664236" y="4681511"/>
            <a:ext cx="4171202" cy="410540"/>
            <a:chOff x="0" y="0"/>
            <a:chExt cx="5561603" cy="547386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5561603" cy="547386"/>
            </a:xfrm>
            <a:custGeom>
              <a:avLst/>
              <a:gdLst/>
              <a:ahLst/>
              <a:cxnLst/>
              <a:rect l="l" t="t" r="r" b="b"/>
              <a:pathLst>
                <a:path w="5561603" h="547386">
                  <a:moveTo>
                    <a:pt x="0" y="0"/>
                  </a:moveTo>
                  <a:lnTo>
                    <a:pt x="5561603" y="0"/>
                  </a:lnTo>
                  <a:lnTo>
                    <a:pt x="5561603" y="547386"/>
                  </a:lnTo>
                  <a:lnTo>
                    <a:pt x="0" y="54738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9525"/>
              <a:ext cx="5561603" cy="556911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2987"/>
                </a:lnSpc>
              </a:pPr>
              <a:r>
                <a:rPr lang="en-US" sz="2437" dirty="0">
                  <a:latin typeface="Unna"/>
                  <a:ea typeface="Unna"/>
                  <a:cs typeface="Unna"/>
                  <a:sym typeface="Unna"/>
                </a:rPr>
                <a:t>Customer Feedback Analysis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7664236" y="5138073"/>
            <a:ext cx="9300865" cy="327362"/>
            <a:chOff x="0" y="0"/>
            <a:chExt cx="12401153" cy="436483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12401153" cy="436483"/>
            </a:xfrm>
            <a:custGeom>
              <a:avLst/>
              <a:gdLst/>
              <a:ahLst/>
              <a:cxnLst/>
              <a:rect l="l" t="t" r="r" b="b"/>
              <a:pathLst>
                <a:path w="12401153" h="436483">
                  <a:moveTo>
                    <a:pt x="0" y="0"/>
                  </a:moveTo>
                  <a:lnTo>
                    <a:pt x="12401153" y="0"/>
                  </a:lnTo>
                  <a:lnTo>
                    <a:pt x="12401153" y="436483"/>
                  </a:lnTo>
                  <a:lnTo>
                    <a:pt x="0" y="43648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85725"/>
              <a:ext cx="12401153" cy="522208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116"/>
                </a:lnSpc>
              </a:pPr>
              <a:r>
                <a:rPr lang="en-US" sz="1937" dirty="0">
                  <a:latin typeface="Unna"/>
                  <a:ea typeface="Unna"/>
                  <a:cs typeface="Unna"/>
                  <a:sym typeface="Unna"/>
                </a:rPr>
                <a:t>Understand customer concerns for service improvements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448305" y="6184409"/>
            <a:ext cx="2715625" cy="410540"/>
            <a:chOff x="0" y="0"/>
            <a:chExt cx="3620834" cy="547386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3620834" cy="547386"/>
            </a:xfrm>
            <a:custGeom>
              <a:avLst/>
              <a:gdLst/>
              <a:ahLst/>
              <a:cxnLst/>
              <a:rect l="l" t="t" r="r" b="b"/>
              <a:pathLst>
                <a:path w="3620834" h="547386">
                  <a:moveTo>
                    <a:pt x="0" y="0"/>
                  </a:moveTo>
                  <a:lnTo>
                    <a:pt x="3620834" y="0"/>
                  </a:lnTo>
                  <a:lnTo>
                    <a:pt x="3620834" y="547386"/>
                  </a:lnTo>
                  <a:lnTo>
                    <a:pt x="0" y="54738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9525"/>
              <a:ext cx="3620834" cy="556911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2987"/>
                </a:lnSpc>
              </a:pPr>
              <a:r>
                <a:rPr lang="en-US" sz="2437" dirty="0">
                  <a:latin typeface="Unna"/>
                  <a:ea typeface="Unna"/>
                  <a:cs typeface="Unna"/>
                  <a:sym typeface="Unna"/>
                </a:rPr>
                <a:t>View Customers Data 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448305" y="6773621"/>
            <a:ext cx="16974741" cy="327362"/>
            <a:chOff x="0" y="0"/>
            <a:chExt cx="22632988" cy="436483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22632989" cy="436483"/>
            </a:xfrm>
            <a:custGeom>
              <a:avLst/>
              <a:gdLst/>
              <a:ahLst/>
              <a:cxnLst/>
              <a:rect l="l" t="t" r="r" b="b"/>
              <a:pathLst>
                <a:path w="22632989" h="436483">
                  <a:moveTo>
                    <a:pt x="0" y="0"/>
                  </a:moveTo>
                  <a:lnTo>
                    <a:pt x="22632989" y="0"/>
                  </a:lnTo>
                  <a:lnTo>
                    <a:pt x="22632989" y="436483"/>
                  </a:lnTo>
                  <a:lnTo>
                    <a:pt x="0" y="43648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85725"/>
              <a:ext cx="22632988" cy="522208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116"/>
                </a:lnSpc>
              </a:pPr>
              <a:r>
                <a:rPr lang="en-US" sz="1937" dirty="0">
                  <a:latin typeface="Unna"/>
                  <a:ea typeface="Unna"/>
                  <a:cs typeface="Unna"/>
                  <a:sym typeface="Unna"/>
                </a:rPr>
                <a:t>Efficiently track and analyze customer information, helping them make data-driven business decisions.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448305" y="7284846"/>
            <a:ext cx="16974741" cy="327362"/>
            <a:chOff x="0" y="0"/>
            <a:chExt cx="22632988" cy="436483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22632989" cy="436483"/>
            </a:xfrm>
            <a:custGeom>
              <a:avLst/>
              <a:gdLst/>
              <a:ahLst/>
              <a:cxnLst/>
              <a:rect l="l" t="t" r="r" b="b"/>
              <a:pathLst>
                <a:path w="22632989" h="436483">
                  <a:moveTo>
                    <a:pt x="0" y="0"/>
                  </a:moveTo>
                  <a:lnTo>
                    <a:pt x="22632989" y="0"/>
                  </a:lnTo>
                  <a:lnTo>
                    <a:pt x="22632989" y="436483"/>
                  </a:lnTo>
                  <a:lnTo>
                    <a:pt x="0" y="43648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0" y="-85725"/>
              <a:ext cx="22632988" cy="522208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116"/>
                </a:lnSpc>
              </a:pPr>
              <a:r>
                <a:rPr lang="en-US" sz="1937" dirty="0">
                  <a:latin typeface="Unna"/>
                  <a:ea typeface="Unna"/>
                  <a:cs typeface="Unna"/>
                  <a:sym typeface="Unna"/>
                </a:rPr>
                <a:t>Customer Profiles – View registered customers’ details, including name, contact number, and purchase history.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448305" y="7986943"/>
            <a:ext cx="16974741" cy="327362"/>
            <a:chOff x="0" y="0"/>
            <a:chExt cx="22632988" cy="436483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22632989" cy="436483"/>
            </a:xfrm>
            <a:custGeom>
              <a:avLst/>
              <a:gdLst/>
              <a:ahLst/>
              <a:cxnLst/>
              <a:rect l="l" t="t" r="r" b="b"/>
              <a:pathLst>
                <a:path w="22632989" h="436483">
                  <a:moveTo>
                    <a:pt x="0" y="0"/>
                  </a:moveTo>
                  <a:lnTo>
                    <a:pt x="22632989" y="0"/>
                  </a:lnTo>
                  <a:lnTo>
                    <a:pt x="22632989" y="436483"/>
                  </a:lnTo>
                  <a:lnTo>
                    <a:pt x="0" y="43648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85725"/>
              <a:ext cx="22632988" cy="522208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116"/>
                </a:lnSpc>
              </a:pPr>
              <a:r>
                <a:rPr lang="en-US" sz="1937" dirty="0">
                  <a:latin typeface="Unna"/>
                  <a:ea typeface="Unna"/>
                  <a:cs typeface="Unna"/>
                  <a:sym typeface="Unna"/>
                </a:rPr>
                <a:t>Business Impact: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284559" y="8327090"/>
            <a:ext cx="16974741" cy="327362"/>
            <a:chOff x="0" y="0"/>
            <a:chExt cx="22632988" cy="436483"/>
          </a:xfrm>
        </p:grpSpPr>
        <p:sp>
          <p:nvSpPr>
            <p:cNvPr id="60" name="Freeform 60"/>
            <p:cNvSpPr/>
            <p:nvPr/>
          </p:nvSpPr>
          <p:spPr>
            <a:xfrm>
              <a:off x="0" y="0"/>
              <a:ext cx="22632989" cy="436483"/>
            </a:xfrm>
            <a:custGeom>
              <a:avLst/>
              <a:gdLst/>
              <a:ahLst/>
              <a:cxnLst/>
              <a:rect l="l" t="t" r="r" b="b"/>
              <a:pathLst>
                <a:path w="22632989" h="436483">
                  <a:moveTo>
                    <a:pt x="0" y="0"/>
                  </a:moveTo>
                  <a:lnTo>
                    <a:pt x="22632989" y="0"/>
                  </a:lnTo>
                  <a:lnTo>
                    <a:pt x="22632989" y="436483"/>
                  </a:lnTo>
                  <a:lnTo>
                    <a:pt x="0" y="43648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0" y="-85725"/>
              <a:ext cx="22632988" cy="522208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116"/>
                </a:lnSpc>
              </a:pPr>
              <a:r>
                <a:rPr lang="en-US" sz="1937" dirty="0">
                  <a:latin typeface="Unna"/>
                  <a:ea typeface="Unna"/>
                  <a:cs typeface="Unna"/>
                  <a:sym typeface="Unna"/>
                </a:rPr>
                <a:t>• Helps in personalized marketing by targeting specific customers with discounts and offers.</a:t>
              </a:r>
            </a:p>
          </p:txBody>
        </p:sp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ADC53ADD-407D-8CAA-D318-3DD5560DAB2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37" y="103519"/>
            <a:ext cx="1112268" cy="1164566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DADB55CA-BB3C-2864-BC10-D14A756B16E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91" t="16832" b="13861"/>
          <a:stretch/>
        </p:blipFill>
        <p:spPr>
          <a:xfrm>
            <a:off x="13427247" y="1"/>
            <a:ext cx="4728777" cy="90577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99865" y="1145598"/>
            <a:ext cx="7442746" cy="1110014"/>
            <a:chOff x="0" y="0"/>
            <a:chExt cx="9923662" cy="148001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923662" cy="1240433"/>
            </a:xfrm>
            <a:custGeom>
              <a:avLst/>
              <a:gdLst/>
              <a:ahLst/>
              <a:cxnLst/>
              <a:rect l="l" t="t" r="r" b="b"/>
              <a:pathLst>
                <a:path w="9923662" h="1240433">
                  <a:moveTo>
                    <a:pt x="0" y="0"/>
                  </a:moveTo>
                  <a:lnTo>
                    <a:pt x="9923662" y="0"/>
                  </a:lnTo>
                  <a:lnTo>
                    <a:pt x="9923662" y="1240433"/>
                  </a:lnTo>
                  <a:lnTo>
                    <a:pt x="0" y="124043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201485"/>
              <a:ext cx="9923662" cy="1278533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6793"/>
                </a:lnSpc>
              </a:pPr>
              <a:r>
                <a:rPr lang="en-US" sz="5400" b="1" dirty="0">
                  <a:latin typeface="Unna Bold"/>
                  <a:ea typeface="Unna Bold"/>
                  <a:cs typeface="Unna Bold"/>
                  <a:sym typeface="Unna Bold"/>
                </a:rPr>
                <a:t>TECHNOLOGIES USED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99865" y="2690391"/>
            <a:ext cx="16303526" cy="458053"/>
            <a:chOff x="0" y="0"/>
            <a:chExt cx="21738035" cy="61073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738034" cy="610737"/>
            </a:xfrm>
            <a:custGeom>
              <a:avLst/>
              <a:gdLst/>
              <a:ahLst/>
              <a:cxnLst/>
              <a:rect l="l" t="t" r="r" b="b"/>
              <a:pathLst>
                <a:path w="21738034" h="610737">
                  <a:moveTo>
                    <a:pt x="0" y="0"/>
                  </a:moveTo>
                  <a:lnTo>
                    <a:pt x="21738034" y="0"/>
                  </a:lnTo>
                  <a:lnTo>
                    <a:pt x="21738034" y="610737"/>
                  </a:lnTo>
                  <a:lnTo>
                    <a:pt x="0" y="61073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114300"/>
              <a:ext cx="21738035" cy="725037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marL="405307" lvl="1" indent="-202654" algn="l">
                <a:lnSpc>
                  <a:spcPts val="4376"/>
                </a:lnSpc>
                <a:buFont typeface="Arial"/>
                <a:buChar char="•"/>
              </a:pPr>
              <a:r>
                <a:rPr lang="en-US" sz="2687" dirty="0">
                  <a:latin typeface="Unna"/>
                  <a:ea typeface="Unna"/>
                  <a:cs typeface="Unna"/>
                  <a:sym typeface="Unna"/>
                </a:rPr>
                <a:t>Programming Language: </a:t>
              </a:r>
              <a:r>
                <a:rPr lang="en-US" sz="2687" b="1" dirty="0">
                  <a:latin typeface="Unna Bold"/>
                  <a:ea typeface="Unna Bold"/>
                  <a:cs typeface="Unna Bold"/>
                  <a:sym typeface="Unna Bold"/>
                </a:rPr>
                <a:t>Python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799865" y="3243139"/>
            <a:ext cx="16303526" cy="458053"/>
            <a:chOff x="0" y="0"/>
            <a:chExt cx="21738035" cy="61073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738034" cy="610737"/>
            </a:xfrm>
            <a:custGeom>
              <a:avLst/>
              <a:gdLst/>
              <a:ahLst/>
              <a:cxnLst/>
              <a:rect l="l" t="t" r="r" b="b"/>
              <a:pathLst>
                <a:path w="21738034" h="610737">
                  <a:moveTo>
                    <a:pt x="0" y="0"/>
                  </a:moveTo>
                  <a:lnTo>
                    <a:pt x="21738034" y="0"/>
                  </a:lnTo>
                  <a:lnTo>
                    <a:pt x="21738034" y="610737"/>
                  </a:lnTo>
                  <a:lnTo>
                    <a:pt x="0" y="61073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14300"/>
              <a:ext cx="21738035" cy="725037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marL="405307" lvl="1" indent="-202654" algn="l">
                <a:lnSpc>
                  <a:spcPts val="4376"/>
                </a:lnSpc>
                <a:buFont typeface="Arial"/>
                <a:buChar char="•"/>
              </a:pPr>
              <a:r>
                <a:rPr lang="en-US" sz="2687" dirty="0">
                  <a:latin typeface="Unna"/>
                  <a:ea typeface="Unna"/>
                  <a:cs typeface="Unna"/>
                  <a:sym typeface="Unna"/>
                </a:rPr>
                <a:t>Database Management: </a:t>
              </a:r>
              <a:r>
                <a:rPr lang="en-US" sz="2687" b="1" dirty="0">
                  <a:latin typeface="Unna Bold"/>
                  <a:ea typeface="Unna Bold"/>
                  <a:cs typeface="Unna Bold"/>
                  <a:sym typeface="Unna Bold"/>
                </a:rPr>
                <a:t>SQLite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799865" y="3795886"/>
            <a:ext cx="16303526" cy="458053"/>
            <a:chOff x="0" y="0"/>
            <a:chExt cx="21738035" cy="61073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1738034" cy="610737"/>
            </a:xfrm>
            <a:custGeom>
              <a:avLst/>
              <a:gdLst/>
              <a:ahLst/>
              <a:cxnLst/>
              <a:rect l="l" t="t" r="r" b="b"/>
              <a:pathLst>
                <a:path w="21738034" h="610737">
                  <a:moveTo>
                    <a:pt x="0" y="0"/>
                  </a:moveTo>
                  <a:lnTo>
                    <a:pt x="21738034" y="0"/>
                  </a:lnTo>
                  <a:lnTo>
                    <a:pt x="21738034" y="610737"/>
                  </a:lnTo>
                  <a:lnTo>
                    <a:pt x="0" y="61073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114300"/>
              <a:ext cx="21738035" cy="725037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marL="405307" lvl="1" indent="-202654" algn="l">
                <a:lnSpc>
                  <a:spcPts val="4376"/>
                </a:lnSpc>
                <a:buFont typeface="Arial"/>
                <a:buChar char="•"/>
              </a:pPr>
              <a:r>
                <a:rPr lang="en-US" sz="2687" dirty="0">
                  <a:latin typeface="Unna"/>
                  <a:ea typeface="Unna"/>
                  <a:cs typeface="Unna"/>
                  <a:sym typeface="Unna"/>
                </a:rPr>
                <a:t>Data Structure &amp; Algorithms: </a:t>
              </a:r>
              <a:r>
                <a:rPr lang="en-US" sz="2687" b="1" dirty="0">
                  <a:latin typeface="Unna Bold"/>
                  <a:ea typeface="Unna Bold"/>
                  <a:cs typeface="Unna Bold"/>
                  <a:sym typeface="Unna Bold"/>
                </a:rPr>
                <a:t>Trie</a:t>
              </a:r>
              <a:r>
                <a:rPr lang="en-US" sz="2687" dirty="0">
                  <a:latin typeface="Unna"/>
                  <a:ea typeface="Unna"/>
                  <a:cs typeface="Unna"/>
                  <a:sym typeface="Unna"/>
                </a:rPr>
                <a:t> : For efficient searching and storing of strings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799865" y="4348635"/>
            <a:ext cx="16303526" cy="458053"/>
            <a:chOff x="0" y="0"/>
            <a:chExt cx="21738035" cy="610737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21738034" cy="610737"/>
            </a:xfrm>
            <a:custGeom>
              <a:avLst/>
              <a:gdLst/>
              <a:ahLst/>
              <a:cxnLst/>
              <a:rect l="l" t="t" r="r" b="b"/>
              <a:pathLst>
                <a:path w="21738034" h="610737">
                  <a:moveTo>
                    <a:pt x="0" y="0"/>
                  </a:moveTo>
                  <a:lnTo>
                    <a:pt x="21738034" y="0"/>
                  </a:lnTo>
                  <a:lnTo>
                    <a:pt x="21738034" y="610737"/>
                  </a:lnTo>
                  <a:lnTo>
                    <a:pt x="0" y="61073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14300"/>
              <a:ext cx="21738035" cy="725037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marL="405307" lvl="1" indent="-202654" algn="l">
                <a:lnSpc>
                  <a:spcPts val="4376"/>
                </a:lnSpc>
                <a:buFont typeface="Arial"/>
                <a:buChar char="•"/>
              </a:pPr>
              <a:r>
                <a:rPr lang="en-US" sz="2687" dirty="0">
                  <a:latin typeface="Unna"/>
                  <a:ea typeface="Unna"/>
                  <a:cs typeface="Unna"/>
                  <a:sym typeface="Unna"/>
                </a:rPr>
                <a:t>Libraries Used: </a:t>
              </a:r>
              <a:r>
                <a:rPr lang="en-US" sz="2687" b="1" dirty="0">
                  <a:latin typeface="Unna Bold"/>
                  <a:ea typeface="Unna Bold"/>
                  <a:cs typeface="Unna Bold"/>
                  <a:sym typeface="Unna Bold"/>
                </a:rPr>
                <a:t>Matplotlib, Twilio </a:t>
              </a:r>
              <a:r>
                <a:rPr lang="en-US" sz="2687" dirty="0">
                  <a:latin typeface="Unna"/>
                  <a:ea typeface="Unna"/>
                  <a:cs typeface="Unna"/>
                  <a:sym typeface="Unna"/>
                </a:rPr>
                <a:t>(for messages)</a:t>
              </a:r>
              <a:r>
                <a:rPr lang="en-US" sz="2687" b="1" dirty="0">
                  <a:latin typeface="Unna Bold"/>
                  <a:ea typeface="Unna Bold"/>
                  <a:cs typeface="Unna Bold"/>
                  <a:sym typeface="Unna Bold"/>
                </a:rPr>
                <a:t>, tabulate, termcolor.</a:t>
              </a: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7FE61CFB-EE15-2AAB-0D8F-6EECA66F749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37" y="103519"/>
            <a:ext cx="1112268" cy="116456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EF85084-D9D6-4305-8FBB-692C3D4F8EE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91" t="16832" b="13861"/>
          <a:stretch/>
        </p:blipFill>
        <p:spPr>
          <a:xfrm>
            <a:off x="13427247" y="1"/>
            <a:ext cx="4728777" cy="90577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67965" y="893564"/>
            <a:ext cx="13544027" cy="1146594"/>
            <a:chOff x="-12701" y="0"/>
            <a:chExt cx="18058703" cy="15287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8046002" cy="1230693"/>
            </a:xfrm>
            <a:custGeom>
              <a:avLst/>
              <a:gdLst/>
              <a:ahLst/>
              <a:cxnLst/>
              <a:rect l="l" t="t" r="r" b="b"/>
              <a:pathLst>
                <a:path w="18046002" h="1230693">
                  <a:moveTo>
                    <a:pt x="0" y="0"/>
                  </a:moveTo>
                  <a:lnTo>
                    <a:pt x="18046002" y="0"/>
                  </a:lnTo>
                  <a:lnTo>
                    <a:pt x="18046002" y="1230693"/>
                  </a:lnTo>
                  <a:lnTo>
                    <a:pt x="0" y="123069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-12701" y="259999"/>
              <a:ext cx="18046003" cy="1268793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6782"/>
                </a:lnSpc>
              </a:pPr>
              <a:r>
                <a:rPr lang="en-US" sz="5400" b="1" dirty="0">
                  <a:latin typeface="Unna Bold"/>
                  <a:ea typeface="Unna Bold"/>
                  <a:cs typeface="Unna Bold"/>
                  <a:sym typeface="Unna Bold"/>
                </a:rPr>
                <a:t>FUTURE ENHANCEMENTS AND SCALABILITY</a:t>
              </a:r>
            </a:p>
          </p:txBody>
        </p:sp>
      </p:grpSp>
      <p:sp>
        <p:nvSpPr>
          <p:cNvPr id="5" name="Freeform 5" descr="preencoded.png"/>
          <p:cNvSpPr/>
          <p:nvPr/>
        </p:nvSpPr>
        <p:spPr>
          <a:xfrm>
            <a:off x="877491" y="2217539"/>
            <a:ext cx="5510956" cy="1002953"/>
          </a:xfrm>
          <a:custGeom>
            <a:avLst/>
            <a:gdLst/>
            <a:ahLst/>
            <a:cxnLst/>
            <a:rect l="l" t="t" r="r" b="b"/>
            <a:pathLst>
              <a:path w="5510956" h="1002953">
                <a:moveTo>
                  <a:pt x="0" y="0"/>
                </a:moveTo>
                <a:lnTo>
                  <a:pt x="5510956" y="0"/>
                </a:lnTo>
                <a:lnTo>
                  <a:pt x="5510956" y="1002952"/>
                </a:lnTo>
                <a:lnTo>
                  <a:pt x="0" y="100295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duotone>
                <a:prstClr val="black"/>
                <a:srgbClr val="D9C3A5">
                  <a:tint val="50000"/>
                  <a:satMod val="18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colorTemperature colorTemp="11200"/>
                      </a14:imgEffect>
                    </a14:imgLayer>
                  </a14:imgProps>
                </a:ext>
              </a:extLst>
            </a:blip>
            <a:stretch>
              <a:fillRect l="-177" r="-177"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/>
          <p:cNvGrpSpPr/>
          <p:nvPr/>
        </p:nvGrpSpPr>
        <p:grpSpPr>
          <a:xfrm>
            <a:off x="1128118" y="3596580"/>
            <a:ext cx="3290888" cy="486972"/>
            <a:chOff x="0" y="0"/>
            <a:chExt cx="4387850" cy="64929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387850" cy="649297"/>
            </a:xfrm>
            <a:custGeom>
              <a:avLst/>
              <a:gdLst/>
              <a:ahLst/>
              <a:cxnLst/>
              <a:rect l="l" t="t" r="r" b="b"/>
              <a:pathLst>
                <a:path w="4387850" h="649297">
                  <a:moveTo>
                    <a:pt x="0" y="0"/>
                  </a:moveTo>
                  <a:lnTo>
                    <a:pt x="4387850" y="0"/>
                  </a:lnTo>
                  <a:lnTo>
                    <a:pt x="4387850" y="649297"/>
                  </a:lnTo>
                  <a:lnTo>
                    <a:pt x="0" y="64929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9050"/>
              <a:ext cx="4387850" cy="668347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560"/>
                </a:lnSpc>
              </a:pPr>
              <a:r>
                <a:rPr lang="en-US" sz="2862">
                  <a:latin typeface="Unna"/>
                  <a:ea typeface="Unna"/>
                  <a:cs typeface="Unna"/>
                  <a:sym typeface="Unna"/>
                </a:rPr>
                <a:t>Cloud Integration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128118" y="4158109"/>
            <a:ext cx="5009704" cy="840261"/>
            <a:chOff x="0" y="0"/>
            <a:chExt cx="6679605" cy="112034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6679605" cy="1120348"/>
            </a:xfrm>
            <a:custGeom>
              <a:avLst/>
              <a:gdLst/>
              <a:ahLst/>
              <a:cxnLst/>
              <a:rect l="l" t="t" r="r" b="b"/>
              <a:pathLst>
                <a:path w="6679605" h="1120348">
                  <a:moveTo>
                    <a:pt x="0" y="0"/>
                  </a:moveTo>
                  <a:lnTo>
                    <a:pt x="6679605" y="0"/>
                  </a:lnTo>
                  <a:lnTo>
                    <a:pt x="6679605" y="1120348"/>
                  </a:lnTo>
                  <a:lnTo>
                    <a:pt x="0" y="112034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95250"/>
              <a:ext cx="6679605" cy="1215598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608"/>
                </a:lnSpc>
              </a:pPr>
              <a:r>
                <a:rPr lang="en-US" sz="2237">
                  <a:latin typeface="Unna"/>
                  <a:ea typeface="Unna"/>
                  <a:cs typeface="Unna"/>
                  <a:sym typeface="Unna"/>
                </a:rPr>
                <a:t>Shift to cloud databases for real-time multi-store access</a:t>
              </a:r>
            </a:p>
          </p:txBody>
        </p:sp>
      </p:grpSp>
      <p:sp>
        <p:nvSpPr>
          <p:cNvPr id="12" name="Freeform 12" descr="preencoded.png"/>
          <p:cNvSpPr/>
          <p:nvPr/>
        </p:nvSpPr>
        <p:spPr>
          <a:xfrm>
            <a:off x="6388447" y="2217539"/>
            <a:ext cx="5510956" cy="1002953"/>
          </a:xfrm>
          <a:custGeom>
            <a:avLst/>
            <a:gdLst/>
            <a:ahLst/>
            <a:cxnLst/>
            <a:rect l="l" t="t" r="r" b="b"/>
            <a:pathLst>
              <a:path w="5510956" h="1002953">
                <a:moveTo>
                  <a:pt x="0" y="0"/>
                </a:moveTo>
                <a:lnTo>
                  <a:pt x="5510957" y="0"/>
                </a:lnTo>
                <a:lnTo>
                  <a:pt x="5510957" y="1002952"/>
                </a:lnTo>
                <a:lnTo>
                  <a:pt x="0" y="100295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duotone>
                <a:prstClr val="black"/>
                <a:srgbClr val="D9C3A5">
                  <a:tint val="50000"/>
                  <a:satMod val="180000"/>
                </a:srgbClr>
              </a:duotone>
            </a:blip>
            <a:stretch>
              <a:fillRect l="-177" r="-177"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3" name="Group 13"/>
          <p:cNvGrpSpPr/>
          <p:nvPr/>
        </p:nvGrpSpPr>
        <p:grpSpPr>
          <a:xfrm>
            <a:off x="6639074" y="3596580"/>
            <a:ext cx="3290888" cy="486972"/>
            <a:chOff x="0" y="0"/>
            <a:chExt cx="4387850" cy="649297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387850" cy="649297"/>
            </a:xfrm>
            <a:custGeom>
              <a:avLst/>
              <a:gdLst/>
              <a:ahLst/>
              <a:cxnLst/>
              <a:rect l="l" t="t" r="r" b="b"/>
              <a:pathLst>
                <a:path w="4387850" h="649297">
                  <a:moveTo>
                    <a:pt x="0" y="0"/>
                  </a:moveTo>
                  <a:lnTo>
                    <a:pt x="4387850" y="0"/>
                  </a:lnTo>
                  <a:lnTo>
                    <a:pt x="4387850" y="649297"/>
                  </a:lnTo>
                  <a:lnTo>
                    <a:pt x="0" y="64929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4387850" cy="668347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560"/>
                </a:lnSpc>
              </a:pPr>
              <a:r>
                <a:rPr lang="en-US" sz="2862">
                  <a:latin typeface="Unna"/>
                  <a:ea typeface="Unna"/>
                  <a:cs typeface="Unna"/>
                  <a:sym typeface="Unna"/>
                </a:rPr>
                <a:t>AI Integration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639074" y="4158109"/>
            <a:ext cx="5009704" cy="840261"/>
            <a:chOff x="0" y="0"/>
            <a:chExt cx="6679605" cy="1120348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679605" cy="1120348"/>
            </a:xfrm>
            <a:custGeom>
              <a:avLst/>
              <a:gdLst/>
              <a:ahLst/>
              <a:cxnLst/>
              <a:rect l="l" t="t" r="r" b="b"/>
              <a:pathLst>
                <a:path w="6679605" h="1120348">
                  <a:moveTo>
                    <a:pt x="0" y="0"/>
                  </a:moveTo>
                  <a:lnTo>
                    <a:pt x="6679605" y="0"/>
                  </a:lnTo>
                  <a:lnTo>
                    <a:pt x="6679605" y="1120348"/>
                  </a:lnTo>
                  <a:lnTo>
                    <a:pt x="0" y="112034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95250"/>
              <a:ext cx="6679605" cy="1215598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608"/>
                </a:lnSpc>
              </a:pPr>
              <a:r>
                <a:rPr lang="en-US" sz="2237">
                  <a:latin typeface="Unna"/>
                  <a:ea typeface="Unna"/>
                  <a:cs typeface="Unna"/>
                  <a:sym typeface="Unna"/>
                </a:rPr>
                <a:t>Personalized product recommendations based on past purchases</a:t>
              </a:r>
            </a:p>
          </p:txBody>
        </p:sp>
      </p:grpSp>
      <p:sp>
        <p:nvSpPr>
          <p:cNvPr id="19" name="Freeform 19" descr="preencoded.png"/>
          <p:cNvSpPr/>
          <p:nvPr/>
        </p:nvSpPr>
        <p:spPr>
          <a:xfrm>
            <a:off x="11899404" y="2217539"/>
            <a:ext cx="5510956" cy="1002953"/>
          </a:xfrm>
          <a:custGeom>
            <a:avLst/>
            <a:gdLst/>
            <a:ahLst/>
            <a:cxnLst/>
            <a:rect l="l" t="t" r="r" b="b"/>
            <a:pathLst>
              <a:path w="5510956" h="1002953">
                <a:moveTo>
                  <a:pt x="0" y="0"/>
                </a:moveTo>
                <a:lnTo>
                  <a:pt x="5510956" y="0"/>
                </a:lnTo>
                <a:lnTo>
                  <a:pt x="5510956" y="1002952"/>
                </a:lnTo>
                <a:lnTo>
                  <a:pt x="0" y="100295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duotone>
                <a:prstClr val="black"/>
                <a:srgbClr val="D9C3A5">
                  <a:tint val="50000"/>
                  <a:satMod val="180000"/>
                </a:srgbClr>
              </a:duotone>
            </a:blip>
            <a:stretch>
              <a:fillRect l="-177" r="-177"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0" name="Group 20"/>
          <p:cNvGrpSpPr/>
          <p:nvPr/>
        </p:nvGrpSpPr>
        <p:grpSpPr>
          <a:xfrm>
            <a:off x="12150030" y="3596580"/>
            <a:ext cx="4908054" cy="486972"/>
            <a:chOff x="0" y="0"/>
            <a:chExt cx="6544072" cy="649297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6544072" cy="649297"/>
            </a:xfrm>
            <a:custGeom>
              <a:avLst/>
              <a:gdLst/>
              <a:ahLst/>
              <a:cxnLst/>
              <a:rect l="l" t="t" r="r" b="b"/>
              <a:pathLst>
                <a:path w="6544072" h="649297">
                  <a:moveTo>
                    <a:pt x="0" y="0"/>
                  </a:moveTo>
                  <a:lnTo>
                    <a:pt x="6544072" y="0"/>
                  </a:lnTo>
                  <a:lnTo>
                    <a:pt x="6544072" y="649297"/>
                  </a:lnTo>
                  <a:lnTo>
                    <a:pt x="0" y="64929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19050"/>
              <a:ext cx="6544072" cy="668347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560"/>
                </a:lnSpc>
              </a:pPr>
              <a:r>
                <a:rPr lang="en-US" sz="2862">
                  <a:latin typeface="Unna"/>
                  <a:ea typeface="Unna"/>
                  <a:cs typeface="Unna"/>
                  <a:sym typeface="Unna"/>
                </a:rPr>
                <a:t>Self-Checkout &amp; QR Code Billing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2150030" y="4158109"/>
            <a:ext cx="5009704" cy="1297461"/>
            <a:chOff x="0" y="0"/>
            <a:chExt cx="6679605" cy="172994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6679605" cy="1729948"/>
            </a:xfrm>
            <a:custGeom>
              <a:avLst/>
              <a:gdLst/>
              <a:ahLst/>
              <a:cxnLst/>
              <a:rect l="l" t="t" r="r" b="b"/>
              <a:pathLst>
                <a:path w="6679605" h="1729948">
                  <a:moveTo>
                    <a:pt x="0" y="0"/>
                  </a:moveTo>
                  <a:lnTo>
                    <a:pt x="6679605" y="0"/>
                  </a:lnTo>
                  <a:lnTo>
                    <a:pt x="6679605" y="1729948"/>
                  </a:lnTo>
                  <a:lnTo>
                    <a:pt x="0" y="172994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95250"/>
              <a:ext cx="6679605" cy="1825198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608"/>
                </a:lnSpc>
              </a:pPr>
              <a:r>
                <a:rPr lang="en-US" sz="2237">
                  <a:latin typeface="Unna"/>
                  <a:ea typeface="Unna"/>
                  <a:cs typeface="Unna"/>
                  <a:sym typeface="Unna"/>
                </a:rPr>
                <a:t>Customers can scan products and generate their bills independently, reducing checkout time.</a:t>
              </a:r>
            </a:p>
          </p:txBody>
        </p:sp>
      </p:grpSp>
      <p:sp>
        <p:nvSpPr>
          <p:cNvPr id="26" name="Freeform 26" descr="preencoded.png"/>
          <p:cNvSpPr/>
          <p:nvPr/>
        </p:nvSpPr>
        <p:spPr>
          <a:xfrm>
            <a:off x="877491" y="5988546"/>
            <a:ext cx="5510956" cy="1002952"/>
          </a:xfrm>
          <a:custGeom>
            <a:avLst/>
            <a:gdLst/>
            <a:ahLst/>
            <a:cxnLst/>
            <a:rect l="l" t="t" r="r" b="b"/>
            <a:pathLst>
              <a:path w="5510956" h="1002952">
                <a:moveTo>
                  <a:pt x="0" y="0"/>
                </a:moveTo>
                <a:lnTo>
                  <a:pt x="5510956" y="0"/>
                </a:lnTo>
                <a:lnTo>
                  <a:pt x="5510956" y="1002953"/>
                </a:lnTo>
                <a:lnTo>
                  <a:pt x="0" y="100295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duotone>
                <a:prstClr val="black"/>
                <a:srgbClr val="D9C3A5">
                  <a:tint val="50000"/>
                  <a:satMod val="180000"/>
                </a:srgbClr>
              </a:duotone>
            </a:blip>
            <a:stretch>
              <a:fillRect l="-177" r="-177"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7" name="Group 27"/>
          <p:cNvGrpSpPr/>
          <p:nvPr/>
        </p:nvGrpSpPr>
        <p:grpSpPr>
          <a:xfrm>
            <a:off x="1128118" y="7367587"/>
            <a:ext cx="4097834" cy="486972"/>
            <a:chOff x="0" y="0"/>
            <a:chExt cx="5463778" cy="649297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5463779" cy="649297"/>
            </a:xfrm>
            <a:custGeom>
              <a:avLst/>
              <a:gdLst/>
              <a:ahLst/>
              <a:cxnLst/>
              <a:rect l="l" t="t" r="r" b="b"/>
              <a:pathLst>
                <a:path w="5463779" h="649297">
                  <a:moveTo>
                    <a:pt x="0" y="0"/>
                  </a:moveTo>
                  <a:lnTo>
                    <a:pt x="5463779" y="0"/>
                  </a:lnTo>
                  <a:lnTo>
                    <a:pt x="5463779" y="649297"/>
                  </a:lnTo>
                  <a:lnTo>
                    <a:pt x="0" y="64929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19050"/>
              <a:ext cx="5463778" cy="668347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560"/>
                </a:lnSpc>
              </a:pPr>
              <a:r>
                <a:rPr lang="en-US" sz="2862">
                  <a:latin typeface="Unna"/>
                  <a:ea typeface="Unna"/>
                  <a:cs typeface="Unna"/>
                  <a:sym typeface="Unna"/>
                </a:rPr>
                <a:t>Voice &amp; Chatbot Assistance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128118" y="7929116"/>
            <a:ext cx="5009704" cy="840261"/>
            <a:chOff x="0" y="0"/>
            <a:chExt cx="6679605" cy="1120348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6679605" cy="1120348"/>
            </a:xfrm>
            <a:custGeom>
              <a:avLst/>
              <a:gdLst/>
              <a:ahLst/>
              <a:cxnLst/>
              <a:rect l="l" t="t" r="r" b="b"/>
              <a:pathLst>
                <a:path w="6679605" h="1120348">
                  <a:moveTo>
                    <a:pt x="0" y="0"/>
                  </a:moveTo>
                  <a:lnTo>
                    <a:pt x="6679605" y="0"/>
                  </a:lnTo>
                  <a:lnTo>
                    <a:pt x="6679605" y="1120348"/>
                  </a:lnTo>
                  <a:lnTo>
                    <a:pt x="0" y="112034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95250"/>
              <a:ext cx="6679605" cy="1215598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608"/>
                </a:lnSpc>
              </a:pPr>
              <a:r>
                <a:rPr lang="en-US" sz="2237">
                  <a:latin typeface="Unna"/>
                  <a:ea typeface="Unna"/>
                  <a:cs typeface="Unna"/>
                  <a:sym typeface="Unna"/>
                </a:rPr>
                <a:t>Implementing voice commands and chatbot support</a:t>
              </a:r>
            </a:p>
          </p:txBody>
        </p:sp>
      </p:grpSp>
      <p:sp>
        <p:nvSpPr>
          <p:cNvPr id="33" name="Freeform 33" descr="preencoded.png"/>
          <p:cNvSpPr/>
          <p:nvPr/>
        </p:nvSpPr>
        <p:spPr>
          <a:xfrm>
            <a:off x="6388447" y="5988546"/>
            <a:ext cx="5510956" cy="1002952"/>
          </a:xfrm>
          <a:custGeom>
            <a:avLst/>
            <a:gdLst/>
            <a:ahLst/>
            <a:cxnLst/>
            <a:rect l="l" t="t" r="r" b="b"/>
            <a:pathLst>
              <a:path w="5510956" h="1002952">
                <a:moveTo>
                  <a:pt x="0" y="0"/>
                </a:moveTo>
                <a:lnTo>
                  <a:pt x="5510957" y="0"/>
                </a:lnTo>
                <a:lnTo>
                  <a:pt x="5510957" y="1002953"/>
                </a:lnTo>
                <a:lnTo>
                  <a:pt x="0" y="100295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duotone>
                <a:prstClr val="black"/>
                <a:srgbClr val="D9C3A5">
                  <a:tint val="50000"/>
                  <a:satMod val="180000"/>
                </a:srgbClr>
              </a:duotone>
            </a:blip>
            <a:stretch>
              <a:fillRect l="-177" r="-177"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4" name="Group 34"/>
          <p:cNvGrpSpPr/>
          <p:nvPr/>
        </p:nvGrpSpPr>
        <p:grpSpPr>
          <a:xfrm>
            <a:off x="6639074" y="7367587"/>
            <a:ext cx="4802089" cy="486972"/>
            <a:chOff x="0" y="0"/>
            <a:chExt cx="6402785" cy="649297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402785" cy="649297"/>
            </a:xfrm>
            <a:custGeom>
              <a:avLst/>
              <a:gdLst/>
              <a:ahLst/>
              <a:cxnLst/>
              <a:rect l="l" t="t" r="r" b="b"/>
              <a:pathLst>
                <a:path w="6402785" h="649297">
                  <a:moveTo>
                    <a:pt x="0" y="0"/>
                  </a:moveTo>
                  <a:lnTo>
                    <a:pt x="6402785" y="0"/>
                  </a:lnTo>
                  <a:lnTo>
                    <a:pt x="6402785" y="649297"/>
                  </a:lnTo>
                  <a:lnTo>
                    <a:pt x="0" y="64929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19050"/>
              <a:ext cx="6402785" cy="668347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560"/>
                </a:lnSpc>
              </a:pPr>
              <a:r>
                <a:rPr lang="en-US" sz="2862">
                  <a:latin typeface="Unna"/>
                  <a:ea typeface="Unna"/>
                  <a:cs typeface="Unna"/>
                  <a:sym typeface="Unna"/>
                </a:rPr>
                <a:t>Automated Coupon Suggestions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639074" y="7929116"/>
            <a:ext cx="5009704" cy="1297461"/>
            <a:chOff x="0" y="0"/>
            <a:chExt cx="6679605" cy="1729948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6679605" cy="1729948"/>
            </a:xfrm>
            <a:custGeom>
              <a:avLst/>
              <a:gdLst/>
              <a:ahLst/>
              <a:cxnLst/>
              <a:rect l="l" t="t" r="r" b="b"/>
              <a:pathLst>
                <a:path w="6679605" h="1729948">
                  <a:moveTo>
                    <a:pt x="0" y="0"/>
                  </a:moveTo>
                  <a:lnTo>
                    <a:pt x="6679605" y="0"/>
                  </a:lnTo>
                  <a:lnTo>
                    <a:pt x="6679605" y="1729948"/>
                  </a:lnTo>
                  <a:lnTo>
                    <a:pt x="0" y="172994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95250"/>
              <a:ext cx="6679605" cy="1825198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608"/>
                </a:lnSpc>
              </a:pPr>
              <a:r>
                <a:rPr lang="en-US" sz="2237">
                  <a:latin typeface="Unna"/>
                  <a:ea typeface="Unna"/>
                  <a:cs typeface="Unna"/>
                  <a:sym typeface="Unna"/>
                </a:rPr>
                <a:t>The system will automatically suggest applicable discount coupons during checkout.</a:t>
              </a:r>
            </a:p>
          </p:txBody>
        </p:sp>
      </p:grpSp>
      <p:sp>
        <p:nvSpPr>
          <p:cNvPr id="40" name="Freeform 40" descr="preencoded.png"/>
          <p:cNvSpPr/>
          <p:nvPr/>
        </p:nvSpPr>
        <p:spPr>
          <a:xfrm>
            <a:off x="11899404" y="5988546"/>
            <a:ext cx="5510956" cy="1002952"/>
          </a:xfrm>
          <a:custGeom>
            <a:avLst/>
            <a:gdLst/>
            <a:ahLst/>
            <a:cxnLst/>
            <a:rect l="l" t="t" r="r" b="b"/>
            <a:pathLst>
              <a:path w="5510956" h="1002952">
                <a:moveTo>
                  <a:pt x="0" y="0"/>
                </a:moveTo>
                <a:lnTo>
                  <a:pt x="5510956" y="0"/>
                </a:lnTo>
                <a:lnTo>
                  <a:pt x="5510956" y="1002953"/>
                </a:lnTo>
                <a:lnTo>
                  <a:pt x="0" y="1002953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duotone>
                <a:prstClr val="black"/>
                <a:srgbClr val="D9C3A5">
                  <a:tint val="50000"/>
                  <a:satMod val="180000"/>
                </a:srgbClr>
              </a:duotone>
            </a:blip>
            <a:stretch>
              <a:fillRect l="-177" r="-177"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41" name="Group 41"/>
          <p:cNvGrpSpPr/>
          <p:nvPr/>
        </p:nvGrpSpPr>
        <p:grpSpPr>
          <a:xfrm>
            <a:off x="12150030" y="7367588"/>
            <a:ext cx="5009704" cy="934647"/>
            <a:chOff x="0" y="0"/>
            <a:chExt cx="6679605" cy="1246197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6679605" cy="1246197"/>
            </a:xfrm>
            <a:custGeom>
              <a:avLst/>
              <a:gdLst/>
              <a:ahLst/>
              <a:cxnLst/>
              <a:rect l="l" t="t" r="r" b="b"/>
              <a:pathLst>
                <a:path w="6679605" h="1246197">
                  <a:moveTo>
                    <a:pt x="0" y="0"/>
                  </a:moveTo>
                  <a:lnTo>
                    <a:pt x="6679605" y="0"/>
                  </a:lnTo>
                  <a:lnTo>
                    <a:pt x="6679605" y="1246197"/>
                  </a:lnTo>
                  <a:lnTo>
                    <a:pt x="0" y="124619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19050"/>
              <a:ext cx="6679605" cy="1265247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560"/>
                </a:lnSpc>
              </a:pPr>
              <a:r>
                <a:rPr lang="en-US" sz="2862" dirty="0">
                  <a:latin typeface="Unna"/>
                  <a:ea typeface="Unna"/>
                  <a:cs typeface="Unna"/>
                  <a:sym typeface="Unna"/>
                </a:rPr>
                <a:t>Product Unavailability :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2150030" y="7857678"/>
            <a:ext cx="5009704" cy="1322912"/>
            <a:chOff x="0" y="-643535"/>
            <a:chExt cx="6679605" cy="1763883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6679605" cy="1120348"/>
            </a:xfrm>
            <a:custGeom>
              <a:avLst/>
              <a:gdLst/>
              <a:ahLst/>
              <a:cxnLst/>
              <a:rect l="l" t="t" r="r" b="b"/>
              <a:pathLst>
                <a:path w="6679605" h="1120348">
                  <a:moveTo>
                    <a:pt x="0" y="0"/>
                  </a:moveTo>
                  <a:lnTo>
                    <a:pt x="6679605" y="0"/>
                  </a:lnTo>
                  <a:lnTo>
                    <a:pt x="6679605" y="1120348"/>
                  </a:lnTo>
                  <a:lnTo>
                    <a:pt x="0" y="112034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643535"/>
              <a:ext cx="6679605" cy="1215599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608"/>
                </a:lnSpc>
              </a:pPr>
              <a:r>
                <a:rPr lang="en-US" sz="2237" dirty="0">
                  <a:latin typeface="Unna"/>
                  <a:ea typeface="Unna"/>
                  <a:cs typeface="Unna"/>
                  <a:sym typeface="Unna"/>
                </a:rPr>
                <a:t>Customers can enter unavailable product they want to database which can be later accessed by Store Manager.</a:t>
              </a: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7A9BFEE1-1CFA-FD4A-D1D5-C9CD5C23FDE9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37" y="103519"/>
            <a:ext cx="1112268" cy="1164566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D91FDE09-636B-DC16-DE61-D15F598463B8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91" t="16832" b="13861"/>
          <a:stretch/>
        </p:blipFill>
        <p:spPr>
          <a:xfrm>
            <a:off x="13427247" y="1"/>
            <a:ext cx="4728777" cy="90577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7F2ED">
                <a:alpha val="90196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6913075" y="3851374"/>
            <a:ext cx="4461852" cy="930325"/>
            <a:chOff x="0" y="0"/>
            <a:chExt cx="5949136" cy="1240433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49136" cy="1240433"/>
            </a:xfrm>
            <a:custGeom>
              <a:avLst/>
              <a:gdLst/>
              <a:ahLst/>
              <a:cxnLst/>
              <a:rect l="l" t="t" r="r" b="b"/>
              <a:pathLst>
                <a:path w="5949136" h="1240433">
                  <a:moveTo>
                    <a:pt x="0" y="0"/>
                  </a:moveTo>
                  <a:lnTo>
                    <a:pt x="5949136" y="0"/>
                  </a:lnTo>
                  <a:lnTo>
                    <a:pt x="5949136" y="1240433"/>
                  </a:lnTo>
                  <a:lnTo>
                    <a:pt x="0" y="124043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5949136" cy="1278533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6793"/>
                </a:lnSpc>
              </a:pPr>
              <a:r>
                <a:rPr lang="en-US" sz="5400" b="1" dirty="0">
                  <a:latin typeface="Unna Bold"/>
                  <a:ea typeface="Unna Bold"/>
                  <a:cs typeface="Unna Bold"/>
                  <a:sym typeface="Unna Bold"/>
                </a:rPr>
                <a:t>THANK YOU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992237" y="5367635"/>
            <a:ext cx="16303526" cy="907256"/>
            <a:chOff x="0" y="0"/>
            <a:chExt cx="21738035" cy="120967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738034" cy="1209675"/>
            </a:xfrm>
            <a:custGeom>
              <a:avLst/>
              <a:gdLst/>
              <a:ahLst/>
              <a:cxnLst/>
              <a:rect l="l" t="t" r="r" b="b"/>
              <a:pathLst>
                <a:path w="21738034" h="1209675">
                  <a:moveTo>
                    <a:pt x="0" y="0"/>
                  </a:moveTo>
                  <a:lnTo>
                    <a:pt x="21738034" y="0"/>
                  </a:lnTo>
                  <a:lnTo>
                    <a:pt x="21738034" y="1209675"/>
                  </a:lnTo>
                  <a:lnTo>
                    <a:pt x="0" y="120967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95250"/>
              <a:ext cx="21738035" cy="1304925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algn="l">
                <a:lnSpc>
                  <a:spcPts val="3888"/>
                </a:lnSpc>
              </a:pPr>
              <a:r>
                <a:rPr lang="en-US" sz="2387">
                  <a:latin typeface="Unna"/>
                  <a:ea typeface="Unna"/>
                  <a:cs typeface="Unna"/>
                  <a:sym typeface="Unna"/>
                </a:rPr>
                <a:t>Thank you for your time and consideration. We are confident that our Smart Billing and Customer Service system can bring real value to your organization.</a:t>
              </a: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9C66EB7E-7BAC-8B93-DD3C-9BDA8513B2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37" y="103519"/>
            <a:ext cx="1112268" cy="116456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2E2AC1E-42B3-92F2-DA84-7E94760700B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91" t="16832" b="13861"/>
          <a:stretch/>
        </p:blipFill>
        <p:spPr>
          <a:xfrm>
            <a:off x="13427247" y="1"/>
            <a:ext cx="4728777" cy="90577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617</Words>
  <Application>Microsoft Macintosh PowerPoint</Application>
  <PresentationFormat>Custom</PresentationFormat>
  <Paragraphs>110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Unna</vt:lpstr>
      <vt:lpstr>Arial</vt:lpstr>
      <vt:lpstr>Unna Bold</vt:lpstr>
      <vt:lpstr>Calibri</vt:lpstr>
      <vt:lpstr>Fraunces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Smart-Billing-and-Customer-Services-At-Store.pptx</dc:title>
  <cp:lastModifiedBy>Ishan Shah LJ</cp:lastModifiedBy>
  <cp:revision>6</cp:revision>
  <dcterms:created xsi:type="dcterms:W3CDTF">2006-08-16T00:00:00Z</dcterms:created>
  <dcterms:modified xsi:type="dcterms:W3CDTF">2025-02-23T17:46:27Z</dcterms:modified>
  <dc:identifier>DAGfKAbak3U</dc:identifier>
</cp:coreProperties>
</file>